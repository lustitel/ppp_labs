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9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375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7EC450F-4839-4B47-9663-E4A41A5831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175923E-AAA5-4926-A854-F0FB21D0CD3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D2C45D-7CFD-4C19-8DB3-516A8761C648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B74988F-BB11-4EA2-B25E-9DB4E13BB5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C3B9C7C-808C-4B74-BC39-EED9F5ED9A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276333-C273-4DF9-8CB1-47F77E2C29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43076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56EB3-781E-417F-B5EC-5DC0FACEE1E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87B37-422F-4B3E-83FE-22AB4DFAD5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607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987B37-422F-4B3E-83FE-22AB4DFAD5E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3601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EF48A-07EF-4B56-98CC-C04B8508417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71A86-228C-4398-8B0D-AB49A380E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5370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EF48A-07EF-4B56-98CC-C04B8508417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71A86-228C-4398-8B0D-AB49A380E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9433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EF48A-07EF-4B56-98CC-C04B8508417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71A86-228C-4398-8B0D-AB49A380E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798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EF48A-07EF-4B56-98CC-C04B8508417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71A86-228C-4398-8B0D-AB49A380E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9692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EF48A-07EF-4B56-98CC-C04B8508417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71A86-228C-4398-8B0D-AB49A380E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576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EF48A-07EF-4B56-98CC-C04B8508417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71A86-228C-4398-8B0D-AB49A380E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18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EF48A-07EF-4B56-98CC-C04B8508417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71A86-228C-4398-8B0D-AB49A380E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9994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EF48A-07EF-4B56-98CC-C04B8508417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71A86-228C-4398-8B0D-AB49A380E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903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0F3EF48A-07EF-4B56-98CC-C04B8508417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60571A86-228C-4398-8B0D-AB49A380E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0345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EF48A-07EF-4B56-98CC-C04B8508417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71A86-228C-4398-8B0D-AB49A380E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7547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EF48A-07EF-4B56-98CC-C04B8508417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71A86-228C-4398-8B0D-AB49A380E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7142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EF48A-07EF-4B56-98CC-C04B8508417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71A86-228C-4398-8B0D-AB49A380E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51780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EF48A-07EF-4B56-98CC-C04B8508417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71A86-228C-4398-8B0D-AB49A380E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81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EF48A-07EF-4B56-98CC-C04B8508417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71A86-228C-4398-8B0D-AB49A380E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5579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EF48A-07EF-4B56-98CC-C04B8508417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71A86-228C-4398-8B0D-AB49A380E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23553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EF48A-07EF-4B56-98CC-C04B8508417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71A86-228C-4398-8B0D-AB49A380E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24784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EF48A-07EF-4B56-98CC-C04B8508417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71A86-228C-4398-8B0D-AB49A380E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224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0F3EF48A-07EF-4B56-98CC-C04B8508417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60571A86-228C-4398-8B0D-AB49A380E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0822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  <p:sldLayoutId id="2147483804" r:id="rId15"/>
    <p:sldLayoutId id="2147483805" r:id="rId16"/>
    <p:sldLayoutId id="214748380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1B2625C-086D-476D-AB6E-7125FFBE33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Лабораторная работа</a:t>
            </a:r>
            <a:r>
              <a:rPr lang="en-US" sz="4400" dirty="0"/>
              <a:t> </a:t>
            </a:r>
            <a:r>
              <a:rPr lang="ru-RU" sz="4400" dirty="0"/>
              <a:t>№2 </a:t>
            </a:r>
            <a:br>
              <a:rPr lang="en-US" sz="4400" dirty="0"/>
            </a:br>
            <a:r>
              <a:rPr lang="ru-RU" sz="4400" dirty="0"/>
              <a:t>"Задания по теории графов"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838A336B-A423-4D30-9FE7-C215850ED0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Вариант №2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A16CD3-6701-4A0F-9401-A8A0E2FE650E}"/>
              </a:ext>
            </a:extLst>
          </p:cNvPr>
          <p:cNvSpPr txBox="1"/>
          <p:nvPr/>
        </p:nvSpPr>
        <p:spPr>
          <a:xfrm>
            <a:off x="8229600" y="5191035"/>
            <a:ext cx="396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Руководитель: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Агалаков С.А.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Выполнил: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Кошкаров Д</a:t>
            </a:r>
            <a:r>
              <a:rPr kumimoji="0" lang="en-GB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</a:t>
            </a:r>
            <a:r>
              <a:rPr kumimoji="0" lang="en-GB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GB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ММБ-304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4562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C0CE29-FC53-4A77-B110-9E7BF45F9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400" dirty="0"/>
              <a:t>Цель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56C042-39DC-4601-979D-8A9EB4D70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200" b="1" dirty="0">
                <a:effectLst/>
                <a:latin typeface="Times New Roman, serif"/>
              </a:rPr>
              <a:t>Цель исследования</a:t>
            </a:r>
            <a:r>
              <a:rPr lang="ru-RU" sz="3200" dirty="0">
                <a:effectLst/>
                <a:latin typeface="Times New Roman, serif"/>
              </a:rPr>
              <a:t> - практическое освоение методов работы с графами, изучение их свойств и характеристик, используя систему компьютерной алгебры Maxima с библиотекой </a:t>
            </a:r>
            <a:r>
              <a:rPr lang="ru-RU" sz="3200" dirty="0" err="1">
                <a:effectLst/>
                <a:latin typeface="Times New Roman, serif"/>
              </a:rPr>
              <a:t>graphs</a:t>
            </a:r>
            <a:r>
              <a:rPr lang="ru-RU" sz="3200" dirty="0">
                <a:effectLst/>
                <a:latin typeface="Times New Roman, serif"/>
              </a:rPr>
              <a:t>.</a:t>
            </a:r>
            <a:endParaRPr lang="ru-RU" sz="3600" dirty="0">
              <a:effectLst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8161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3181DF-4764-4CE8-8B1F-F7B39895C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>
              <a:lnSpc>
                <a:spcPct val="100000"/>
              </a:lnSpc>
            </a:pPr>
            <a:r>
              <a:rPr lang="ru-RU" sz="3100" b="1" dirty="0">
                <a:effectLst/>
                <a:latin typeface="Times New Roman" panose="02020603050405020304" pitchFamily="18" charset="0"/>
              </a:rPr>
              <a:t>Задание 1</a:t>
            </a:r>
            <a:br>
              <a:rPr lang="ru-RU" sz="3100" b="1" dirty="0">
                <a:effectLst/>
                <a:latin typeface="Times New Roman" panose="02020603050405020304" pitchFamily="18" charset="0"/>
              </a:rPr>
            </a:br>
            <a:r>
              <a:rPr lang="ru-RU" sz="3100" dirty="0">
                <a:effectLst/>
                <a:latin typeface="Times New Roman, serif"/>
              </a:rPr>
              <a:t>Необходимо создать неориентированный граф G</a:t>
            </a:r>
            <a:br>
              <a:rPr lang="ru-RU" dirty="0">
                <a:effectLst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5DC633-1A12-4EB3-B8B7-67DD6FFEC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39716" y="1816428"/>
            <a:ext cx="6799429" cy="1104901"/>
          </a:xfrm>
        </p:spPr>
        <p:txBody>
          <a:bodyPr>
            <a:normAutofit/>
          </a:bodyPr>
          <a:lstStyle/>
          <a:p>
            <a:r>
              <a:rPr lang="ru-RU" sz="2800" dirty="0">
                <a:effectLst/>
                <a:latin typeface="Times New Roman, serif"/>
              </a:rPr>
              <a:t>А) Создаем граф и выводим список смежности:</a:t>
            </a:r>
            <a:endParaRPr lang="ru-RU" sz="3200" dirty="0">
              <a:effectLst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B2C07A4-0ED1-4090-9C74-94A8B699B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29" y="3004456"/>
            <a:ext cx="5901072" cy="34605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391F36-6FDA-4E3C-BBE5-087D8EAD61AC}"/>
              </a:ext>
            </a:extLst>
          </p:cNvPr>
          <p:cNvSpPr txBox="1"/>
          <p:nvPr/>
        </p:nvSpPr>
        <p:spPr>
          <a:xfrm>
            <a:off x="7086601" y="1682310"/>
            <a:ext cx="44265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lnSpc>
                <a:spcPct val="100000"/>
              </a:lnSpc>
            </a:pPr>
            <a:r>
              <a:rPr lang="ru-RU" sz="2800" dirty="0">
                <a:effectLst/>
                <a:latin typeface="Times New Roman, serif"/>
              </a:rPr>
              <a:t>Б) Строим изображение графа G:</a:t>
            </a:r>
            <a:endParaRPr lang="ru-RU" sz="2800" dirty="0">
              <a:effectLst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7F4D327-7559-44FE-BA5E-12DD824029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7848" y="2839844"/>
            <a:ext cx="4704032" cy="362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967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C8AC8D-A58A-4EDA-A013-53364AB20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67" y="0"/>
            <a:ext cx="9905998" cy="1905000"/>
          </a:xfrm>
        </p:spPr>
        <p:txBody>
          <a:bodyPr/>
          <a:lstStyle/>
          <a:p>
            <a:r>
              <a:rPr lang="ru-RU" sz="3200" b="1" dirty="0">
                <a:effectLst/>
                <a:latin typeface="Times New Roman" panose="02020603050405020304" pitchFamily="18" charset="0"/>
              </a:rPr>
              <a:t>Задание 1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A84895-9C4E-4680-917E-FC90970B1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6508"/>
            <a:ext cx="4532023" cy="1572492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sz="3000" dirty="0">
                <a:effectLst/>
                <a:latin typeface="Times New Roman, serif"/>
              </a:rPr>
              <a:t>В) Делаем вершины помеченными и окрашиваем в зеленый цвет:</a:t>
            </a:r>
            <a:endParaRPr lang="ru-RU" sz="3500" dirty="0">
              <a:effectLst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A53A111-E736-4EEB-9D5D-4D0C2B717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39" y="3164538"/>
            <a:ext cx="4620270" cy="35769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93AB2C-4D2B-4ACA-975D-F724E22982F4}"/>
              </a:ext>
            </a:extLst>
          </p:cNvPr>
          <p:cNvSpPr txBox="1"/>
          <p:nvPr/>
        </p:nvSpPr>
        <p:spPr>
          <a:xfrm>
            <a:off x="6464968" y="1676984"/>
            <a:ext cx="6096000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08000"/>
              </a:lnSpc>
            </a:pPr>
            <a:r>
              <a:rPr lang="ru-RU" sz="2800" dirty="0">
                <a:effectLst/>
                <a:latin typeface="Times New Roman, serif"/>
              </a:rPr>
              <a:t>Г) Строим дополнение </a:t>
            </a:r>
            <a:r>
              <a:rPr lang="ru-RU" sz="2800" dirty="0" err="1">
                <a:effectLst/>
                <a:latin typeface="Times New Roman, serif"/>
              </a:rPr>
              <a:t>G_compl</a:t>
            </a:r>
            <a:r>
              <a:rPr lang="ru-RU" sz="2800" dirty="0">
                <a:effectLst/>
                <a:latin typeface="Times New Roman, serif"/>
              </a:rPr>
              <a:t> для графа G:</a:t>
            </a:r>
            <a:endParaRPr lang="ru-RU" sz="2800" dirty="0">
              <a:effectLst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D5C577E-28F2-4FE9-9AC0-B7CC27A95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672" y="3000691"/>
            <a:ext cx="4620270" cy="384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373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0A8AD7-42FD-4004-9495-513391742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36" y="76200"/>
            <a:ext cx="8189623" cy="990600"/>
          </a:xfrm>
        </p:spPr>
        <p:txBody>
          <a:bodyPr/>
          <a:lstStyle/>
          <a:p>
            <a:r>
              <a:rPr lang="ru-RU" sz="3200" b="1" dirty="0">
                <a:effectLst/>
                <a:latin typeface="Times New Roman" panose="02020603050405020304" pitchFamily="18" charset="0"/>
              </a:rPr>
              <a:t>Задание 1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D475C9-06D0-4BA2-B038-5496902F9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066800"/>
            <a:ext cx="5216237" cy="113607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sz="5100" dirty="0">
                <a:effectLst/>
                <a:latin typeface="Times New Roman, serif"/>
              </a:rPr>
              <a:t> Д) Находим матрицы смежности для G и </a:t>
            </a:r>
            <a:r>
              <a:rPr lang="ru-RU" sz="5100" dirty="0" err="1">
                <a:effectLst/>
                <a:latin typeface="Times New Roman, serif"/>
              </a:rPr>
              <a:t>G_compl</a:t>
            </a:r>
            <a:r>
              <a:rPr lang="ru-RU" sz="3300" dirty="0">
                <a:effectLst/>
                <a:latin typeface="Times New Roman, serif"/>
              </a:rPr>
              <a:t>:</a:t>
            </a:r>
            <a:endParaRPr lang="ru-RU" sz="3600" dirty="0">
              <a:effectLst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DA233B6-E5BD-4697-B51A-91D3F55D2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703" y="1911120"/>
            <a:ext cx="3540915" cy="49077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CCA541-796C-4263-869B-8789ECC17785}"/>
              </a:ext>
            </a:extLst>
          </p:cNvPr>
          <p:cNvSpPr txBox="1"/>
          <p:nvPr/>
        </p:nvSpPr>
        <p:spPr>
          <a:xfrm>
            <a:off x="6096000" y="1110206"/>
            <a:ext cx="6161808" cy="52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lnSpc>
                <a:spcPct val="108000"/>
              </a:lnSpc>
            </a:pPr>
            <a:r>
              <a:rPr lang="ru-RU" sz="2800" dirty="0">
                <a:effectLst/>
                <a:latin typeface="Times New Roman, serif"/>
              </a:rPr>
              <a:t>Е) Создаем копию графа G:</a:t>
            </a:r>
            <a:endParaRPr lang="ru-RU" sz="2800" dirty="0">
              <a:effectLst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A71084D-92F4-4FFC-8493-F4D929DFC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711" y="2202874"/>
            <a:ext cx="5096586" cy="410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926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EC9C1A-6745-4B47-B21F-AAE43C66A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2434" y="0"/>
            <a:ext cx="2807132" cy="1905000"/>
          </a:xfrm>
        </p:spPr>
        <p:txBody>
          <a:bodyPr/>
          <a:lstStyle/>
          <a:p>
            <a:r>
              <a:rPr lang="ru-RU" b="1" dirty="0">
                <a:effectLst/>
                <a:latin typeface="Times New Roman" panose="02020603050405020304" pitchFamily="18" charset="0"/>
              </a:rPr>
              <a:t>Задание 2</a:t>
            </a:r>
            <a:br>
              <a:rPr lang="ru-RU" sz="1800" b="1" dirty="0">
                <a:effectLst/>
                <a:latin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F00B3F-24A1-4B86-8123-9F955A9B7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4870" y="1070264"/>
            <a:ext cx="7462260" cy="1676402"/>
          </a:xfrm>
        </p:spPr>
        <p:txBody>
          <a:bodyPr>
            <a:normAutofit/>
          </a:bodyPr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ru-RU" sz="2800" b="1" dirty="0">
                <a:effectLst/>
                <a:latin typeface="Times New Roman, serif"/>
              </a:rPr>
              <a:t>Строим граф G_2 по матрице    смежности A</a:t>
            </a:r>
            <a:endParaRPr lang="ru-RU" sz="2800" b="1" dirty="0">
              <a:effectLst/>
              <a:latin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0968B59-688B-4B97-864E-39CC88275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416" y="2348345"/>
            <a:ext cx="6211167" cy="440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23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F19F4-664E-4B44-9B1D-1445440E7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2824" y="152400"/>
            <a:ext cx="2786351" cy="1239982"/>
          </a:xfrm>
        </p:spPr>
        <p:txBody>
          <a:bodyPr/>
          <a:lstStyle/>
          <a:p>
            <a:r>
              <a:rPr lang="ru-RU" sz="3600" b="1" dirty="0">
                <a:effectLst/>
                <a:latin typeface="Times New Roman, serif"/>
              </a:rPr>
              <a:t>Задание 3</a:t>
            </a:r>
            <a:br>
              <a:rPr lang="ru-RU" sz="1800" b="1" dirty="0">
                <a:effectLst/>
                <a:latin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92B82C-99E8-47AC-951F-402784175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8364"/>
            <a:ext cx="5446423" cy="1239982"/>
          </a:xfrm>
        </p:spPr>
        <p:txBody>
          <a:bodyPr/>
          <a:lstStyle/>
          <a:p>
            <a:pPr marL="0" indent="0">
              <a:buNone/>
            </a:pPr>
            <a:r>
              <a:rPr lang="ru-RU" sz="2800" dirty="0">
                <a:effectLst/>
                <a:latin typeface="Times New Roman, serif"/>
              </a:rPr>
              <a:t>А) Создаем орграф G_3 = (V, E)</a:t>
            </a:r>
            <a:endParaRPr lang="ru-RU" sz="3200" dirty="0">
              <a:effectLst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95B8DED-ADDD-4BC5-9B97-742DAE2BF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1597"/>
            <a:ext cx="6096000" cy="32477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138543-BE79-48AB-8086-E875E7A6CE32}"/>
              </a:ext>
            </a:extLst>
          </p:cNvPr>
          <p:cNvSpPr txBox="1"/>
          <p:nvPr/>
        </p:nvSpPr>
        <p:spPr>
          <a:xfrm>
            <a:off x="6745579" y="1108364"/>
            <a:ext cx="6212177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08000"/>
              </a:lnSpc>
            </a:pPr>
            <a:r>
              <a:rPr lang="ru-RU" sz="2800" dirty="0">
                <a:effectLst/>
                <a:latin typeface="Times New Roman, serif"/>
              </a:rPr>
              <a:t>Б) Строим его изображение (дуги синего цвета):</a:t>
            </a:r>
            <a:endParaRPr lang="ru-RU" sz="2800" dirty="0">
              <a:effectLst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2A0F783-DCA4-4734-8D46-0A44DEA91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578" y="2116463"/>
            <a:ext cx="5446421" cy="311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513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24E25D-F9A9-40AB-8C34-CBF740B53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0252" y="450273"/>
            <a:ext cx="2391496" cy="616527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effectLst/>
                <a:latin typeface="Times New Roman, serif"/>
              </a:rPr>
              <a:t>Задание 3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442398-7F11-44B0-AF9C-E87336A72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2685" y="450273"/>
            <a:ext cx="9905998" cy="3124201"/>
          </a:xfrm>
        </p:spPr>
        <p:txBody>
          <a:bodyPr/>
          <a:lstStyle/>
          <a:p>
            <a:pPr marL="0" indent="0">
              <a:buNone/>
            </a:pPr>
            <a:r>
              <a:rPr lang="ru-RU" sz="2800" dirty="0">
                <a:effectLst/>
              </a:rPr>
              <a:t>   В) Находим матрицу смежности графа:</a:t>
            </a:r>
            <a:endParaRPr lang="ru-RU" sz="3200" dirty="0">
              <a:effectLst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2361DD8-EC95-401C-97B6-274245459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37" y="2445325"/>
            <a:ext cx="6096526" cy="329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60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4BF205-3F8C-433E-9F90-18C623254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66782"/>
            <a:ext cx="9905998" cy="1905000"/>
          </a:xfrm>
        </p:spPr>
        <p:txBody>
          <a:bodyPr>
            <a:normAutofit fontScale="90000"/>
          </a:bodyPr>
          <a:lstStyle/>
          <a:p>
            <a:pPr algn="ctr" rtl="0">
              <a:lnSpc>
                <a:spcPct val="100000"/>
              </a:lnSpc>
            </a:pPr>
            <a:r>
              <a:rPr lang="ru-RU" sz="3600" b="1" dirty="0">
                <a:effectLst/>
                <a:latin typeface="Times New Roman" panose="02020603050405020304" pitchFamily="18" charset="0"/>
              </a:rPr>
              <a:t>Задание 4</a:t>
            </a:r>
            <a:br>
              <a:rPr lang="ru-RU" sz="3600" b="1" dirty="0">
                <a:effectLst/>
                <a:latin typeface="Times New Roman" panose="02020603050405020304" pitchFamily="18" charset="0"/>
              </a:rPr>
            </a:br>
            <a:r>
              <a:rPr lang="ru-RU" sz="3600" dirty="0">
                <a:effectLst/>
                <a:latin typeface="Times New Roman, serif"/>
              </a:rPr>
              <a:t>Создаем и изображаем графы специального вида</a:t>
            </a:r>
            <a:br>
              <a:rPr lang="ru-RU" dirty="0">
                <a:effectLst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AFE96B-5E38-473F-9B87-27314FB80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704" y="2268681"/>
            <a:ext cx="3929351" cy="49183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800" dirty="0">
                <a:effectLst/>
                <a:latin typeface="Times New Roman, serif"/>
              </a:rPr>
              <a:t>1) O8 (Пустой граф):</a:t>
            </a:r>
            <a:endParaRPr lang="ru-RU" sz="3200" dirty="0">
              <a:effectLst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06D078-5A9F-463B-9A03-FAC096042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04" y="2852953"/>
            <a:ext cx="3929351" cy="31332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3D6549-9C44-41B8-94F3-723B04ED031D}"/>
              </a:ext>
            </a:extLst>
          </p:cNvPr>
          <p:cNvSpPr txBox="1"/>
          <p:nvPr/>
        </p:nvSpPr>
        <p:spPr>
          <a:xfrm>
            <a:off x="6094412" y="1995080"/>
            <a:ext cx="6099462" cy="547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lang="ru-RU" sz="2800" dirty="0">
                <a:effectLst/>
                <a:latin typeface="Times New Roman, serif"/>
              </a:rPr>
              <a:t>2) K7 (Полный граф):</a:t>
            </a:r>
            <a:endParaRPr lang="ru-RU" sz="2800" dirty="0">
              <a:effectLst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C0E15DE-3A50-4A3A-85A7-27D8335B7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585" y="2936080"/>
            <a:ext cx="3780415" cy="343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98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B695B4-EF08-4D4A-85A0-4FDB558C5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4232" y="184298"/>
            <a:ext cx="2303535" cy="411125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effectLst/>
                <a:latin typeface="Times New Roman" panose="02020603050405020304" pitchFamily="18" charset="0"/>
              </a:rPr>
              <a:t>Задание 4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8B15DB-311B-4D35-BC55-7CD0FAEE7FDD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0800000" flipV="1">
            <a:off x="567255" y="1297171"/>
            <a:ext cx="4068540" cy="12546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>
                <a:effectLst/>
                <a:latin typeface="Times New Roman, serif"/>
              </a:rPr>
              <a:t>3) K3,5 (Полный двудольный граф):</a:t>
            </a:r>
            <a:endParaRPr lang="ru-RU" sz="3200" dirty="0">
              <a:effectLst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1A3F489-2D01-459F-B52F-8F5FD12C0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188" y="2362161"/>
            <a:ext cx="3502674" cy="31986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23C849-C0C9-4CA7-B461-025BA8FBCC39}"/>
              </a:ext>
            </a:extLst>
          </p:cNvPr>
          <p:cNvSpPr txBox="1"/>
          <p:nvPr/>
        </p:nvSpPr>
        <p:spPr>
          <a:xfrm>
            <a:off x="6831418" y="1302487"/>
            <a:ext cx="6092456" cy="52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08000"/>
              </a:lnSpc>
            </a:pPr>
            <a:r>
              <a:rPr lang="ru-RU" sz="2800" dirty="0">
                <a:effectLst/>
                <a:latin typeface="Times New Roman, serif"/>
              </a:rPr>
              <a:t>4) P7 (Путь):</a:t>
            </a:r>
            <a:endParaRPr lang="ru-RU" sz="2800" dirty="0">
              <a:effectLst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D13C701-AAB5-4214-AAEC-DCFA7D58B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875" y="2307355"/>
            <a:ext cx="4131941" cy="319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722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DDFD93-5EEA-41BA-B6C4-D6C16C5FB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9804" y="184298"/>
            <a:ext cx="2452392" cy="730102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effectLst/>
                <a:latin typeface="Times New Roman" panose="02020603050405020304" pitchFamily="18" charset="0"/>
              </a:rPr>
              <a:t>Задание 4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A0B5C3-A7BC-4208-827C-2BBA9255E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399" y="1093380"/>
            <a:ext cx="2665043" cy="762001"/>
          </a:xfrm>
        </p:spPr>
        <p:txBody>
          <a:bodyPr/>
          <a:lstStyle/>
          <a:p>
            <a:pPr marL="0" indent="0">
              <a:buNone/>
            </a:pPr>
            <a:r>
              <a:rPr lang="ru-RU" sz="2800" dirty="0">
                <a:effectLst/>
                <a:latin typeface="Times New Roman, serif"/>
              </a:rPr>
              <a:t>5) C8 (Цикл):</a:t>
            </a:r>
            <a:endParaRPr lang="ru-RU" sz="3200" dirty="0">
              <a:effectLst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AA7E8F0-70AC-4B3C-8826-E6ABDD695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99" y="1855381"/>
            <a:ext cx="3774795" cy="35715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60E403-E186-4E60-9660-1CEFCDB8DD3A}"/>
              </a:ext>
            </a:extLst>
          </p:cNvPr>
          <p:cNvSpPr txBox="1"/>
          <p:nvPr/>
        </p:nvSpPr>
        <p:spPr>
          <a:xfrm>
            <a:off x="5785421" y="946463"/>
            <a:ext cx="5121534" cy="52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08000"/>
              </a:lnSpc>
            </a:pPr>
            <a:r>
              <a:rPr lang="ru-RU" sz="2800" dirty="0">
                <a:effectLst/>
                <a:latin typeface="Times New Roman, serif"/>
              </a:rPr>
              <a:t>6) Q3 (3-мерный куб):</a:t>
            </a:r>
            <a:endParaRPr lang="ru-RU" sz="2800" dirty="0">
              <a:effectLst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416D7BB-0857-4F7F-AE19-B6F50313B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957" y="1855381"/>
            <a:ext cx="3891701" cy="372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257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075A763-3BDF-49FB-A8EC-55F275E1607A}"/>
              </a:ext>
            </a:extLst>
          </p:cNvPr>
          <p:cNvSpPr txBox="1">
            <a:spLocks/>
          </p:cNvSpPr>
          <p:nvPr/>
        </p:nvSpPr>
        <p:spPr>
          <a:xfrm>
            <a:off x="4131785" y="94464"/>
            <a:ext cx="2452392" cy="730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b="1">
                <a:effectLst/>
                <a:latin typeface="Times New Roman" panose="02020603050405020304" pitchFamily="18" charset="0"/>
              </a:rPr>
              <a:t>Задание 4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952821-3B73-402D-8434-C06D3A6F4063}"/>
              </a:ext>
            </a:extLst>
          </p:cNvPr>
          <p:cNvSpPr txBox="1"/>
          <p:nvPr/>
        </p:nvSpPr>
        <p:spPr>
          <a:xfrm>
            <a:off x="345559" y="1186453"/>
            <a:ext cx="6092456" cy="52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08000"/>
              </a:lnSpc>
            </a:pPr>
            <a:r>
              <a:rPr lang="ru-RU" sz="2800" dirty="0">
                <a:effectLst/>
                <a:latin typeface="Times New Roman, serif"/>
              </a:rPr>
              <a:t>7) W7 (Колесо, 7 вершин):</a:t>
            </a:r>
            <a:endParaRPr lang="ru-RU" sz="2800" dirty="0">
              <a:effectLst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59E2B78-3249-4945-BA0A-A684CAB50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71" y="1983137"/>
            <a:ext cx="3536414" cy="39604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93DCA4-20F3-4ACC-94B8-3F900361BC59}"/>
              </a:ext>
            </a:extLst>
          </p:cNvPr>
          <p:cNvSpPr txBox="1"/>
          <p:nvPr/>
        </p:nvSpPr>
        <p:spPr>
          <a:xfrm>
            <a:off x="5753985" y="1096619"/>
            <a:ext cx="6092456" cy="52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08000"/>
              </a:lnSpc>
            </a:pPr>
            <a:r>
              <a:rPr lang="ru-RU" sz="2800" dirty="0">
                <a:effectLst/>
                <a:latin typeface="Times New Roman, serif"/>
              </a:rPr>
              <a:t>8) Граф Петерсена:</a:t>
            </a:r>
            <a:endParaRPr lang="ru-RU" sz="2800" dirty="0">
              <a:effectLst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4B1E5CF-1C43-4BE1-83C0-F5FAE4ACE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985" y="1967695"/>
            <a:ext cx="4176926" cy="396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165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5AA0498-FE74-4BF9-83E1-DFA093910A4E}"/>
              </a:ext>
            </a:extLst>
          </p:cNvPr>
          <p:cNvSpPr txBox="1">
            <a:spLocks/>
          </p:cNvSpPr>
          <p:nvPr/>
        </p:nvSpPr>
        <p:spPr>
          <a:xfrm>
            <a:off x="4131785" y="94464"/>
            <a:ext cx="2452392" cy="730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b="1" dirty="0">
                <a:effectLst/>
                <a:latin typeface="Times New Roman" panose="02020603050405020304" pitchFamily="18" charset="0"/>
              </a:rPr>
              <a:t>Задание 5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4A8F03-6165-447B-BC67-347EE50B9107}"/>
              </a:ext>
            </a:extLst>
          </p:cNvPr>
          <p:cNvSpPr txBox="1"/>
          <p:nvPr/>
        </p:nvSpPr>
        <p:spPr>
          <a:xfrm>
            <a:off x="3544" y="977402"/>
            <a:ext cx="6092456" cy="1042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lang="ru-RU" sz="2800" dirty="0">
                <a:effectLst/>
                <a:latin typeface="Times New Roman, serif"/>
              </a:rPr>
              <a:t>А) Случайный неориентированный граф (10 вершин, p=0.35):</a:t>
            </a:r>
            <a:endParaRPr lang="ru-RU" sz="2800" dirty="0">
              <a:effectLst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AE9CD13-E8E0-4448-9EBF-7D96F97F2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26" y="2172959"/>
            <a:ext cx="3913858" cy="40780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833C6B-1B2D-4B4D-9BAC-1ACB53BB808E}"/>
              </a:ext>
            </a:extLst>
          </p:cNvPr>
          <p:cNvSpPr txBox="1"/>
          <p:nvPr/>
        </p:nvSpPr>
        <p:spPr>
          <a:xfrm>
            <a:off x="6035750" y="1030108"/>
            <a:ext cx="6156250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08000"/>
              </a:lnSpc>
            </a:pPr>
            <a:r>
              <a:rPr lang="ru-RU" sz="2800" dirty="0">
                <a:effectLst/>
                <a:latin typeface="Times New Roman, serif"/>
              </a:rPr>
              <a:t>Б) Случайный орграф (8 вершин, p=0.4):</a:t>
            </a:r>
            <a:endParaRPr lang="ru-RU" sz="2800" dirty="0">
              <a:effectLst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7ED8AC0-2BE1-4BC9-8214-94CC2D269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363" y="2172959"/>
            <a:ext cx="3913859" cy="398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694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75B38FA-A137-4B13-9022-5CD0474114DA}"/>
              </a:ext>
            </a:extLst>
          </p:cNvPr>
          <p:cNvSpPr txBox="1">
            <a:spLocks/>
          </p:cNvSpPr>
          <p:nvPr/>
        </p:nvSpPr>
        <p:spPr>
          <a:xfrm>
            <a:off x="4131785" y="94464"/>
            <a:ext cx="2452392" cy="730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b="1" dirty="0">
                <a:effectLst/>
                <a:latin typeface="Times New Roman" panose="02020603050405020304" pitchFamily="18" charset="0"/>
              </a:rPr>
              <a:t>Задание 6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AB05F1-006B-447C-9BAE-C98FE00CD114}"/>
              </a:ext>
            </a:extLst>
          </p:cNvPr>
          <p:cNvSpPr txBox="1"/>
          <p:nvPr/>
        </p:nvSpPr>
        <p:spPr>
          <a:xfrm>
            <a:off x="1686146" y="994012"/>
            <a:ext cx="8819707" cy="191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08000"/>
              </a:lnSpc>
            </a:pPr>
            <a:r>
              <a:rPr lang="ru-RU" sz="2800" dirty="0">
                <a:effectLst/>
              </a:rPr>
              <a:t>Создаем случайный двудольный граф (доли 6+4, p=0.6). Множество вершин разбито на доли, которые окрашены в разные цвета (зеленый и красный):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F68FF22-94EE-48B2-B423-05A75308D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700" y="3080650"/>
            <a:ext cx="7198747" cy="334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17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9D43873-9F55-44EA-9351-455C6888307E}"/>
              </a:ext>
            </a:extLst>
          </p:cNvPr>
          <p:cNvSpPr txBox="1">
            <a:spLocks/>
          </p:cNvSpPr>
          <p:nvPr/>
        </p:nvSpPr>
        <p:spPr>
          <a:xfrm>
            <a:off x="4195580" y="156819"/>
            <a:ext cx="2452392" cy="730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b="1" dirty="0">
                <a:effectLst/>
                <a:latin typeface="Times New Roman" panose="02020603050405020304" pitchFamily="18" charset="0"/>
              </a:rPr>
              <a:t>Задание 7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9B6E8A-BF32-4579-9FC5-416F1B7E89B0}"/>
              </a:ext>
            </a:extLst>
          </p:cNvPr>
          <p:cNvSpPr txBox="1"/>
          <p:nvPr/>
        </p:nvSpPr>
        <p:spPr>
          <a:xfrm>
            <a:off x="1393337" y="521870"/>
            <a:ext cx="9405326" cy="660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lnSpc>
                <a:spcPct val="150000"/>
              </a:lnSpc>
            </a:pPr>
            <a:r>
              <a:rPr lang="ru-RU" sz="2800" dirty="0">
                <a:effectLst/>
                <a:latin typeface="Times New Roman, serif"/>
              </a:rPr>
              <a:t>Создаем случайный граф F с 20 вершинами и 80 ребрами:</a:t>
            </a:r>
            <a:endParaRPr lang="ru-RU" sz="2800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8D41ED-9B94-4F58-82EC-9C00098334D5}"/>
              </a:ext>
            </a:extLst>
          </p:cNvPr>
          <p:cNvSpPr txBox="1"/>
          <p:nvPr/>
        </p:nvSpPr>
        <p:spPr>
          <a:xfrm>
            <a:off x="3049772" y="1278981"/>
            <a:ext cx="6092456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lnSpc>
                <a:spcPct val="150000"/>
              </a:lnSpc>
            </a:pPr>
            <a:r>
              <a:rPr lang="ru-RU" sz="2800" dirty="0">
                <a:effectLst/>
                <a:latin typeface="Times New Roman, serif"/>
              </a:rPr>
              <a:t>А) Выясняем свойства графа</a:t>
            </a:r>
            <a:r>
              <a:rPr lang="ru-RU" sz="1800" dirty="0">
                <a:effectLst/>
                <a:latin typeface="Times New Roman, serif"/>
              </a:rPr>
              <a:t>:</a:t>
            </a:r>
            <a:endParaRPr lang="ru-RU" dirty="0"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2C96F3-D45E-47E9-89B2-4451B0602CA2}"/>
              </a:ext>
            </a:extLst>
          </p:cNvPr>
          <p:cNvSpPr txBox="1"/>
          <p:nvPr/>
        </p:nvSpPr>
        <p:spPr>
          <a:xfrm>
            <a:off x="491721" y="2036990"/>
            <a:ext cx="2400335" cy="579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lnSpc>
                <a:spcPct val="150000"/>
              </a:lnSpc>
            </a:pPr>
            <a:r>
              <a:rPr lang="ru-RU" sz="2400" dirty="0">
                <a:effectLst/>
                <a:latin typeface="Times New Roman, serif"/>
              </a:rPr>
              <a:t>1) Связность:</a:t>
            </a:r>
            <a:endParaRPr lang="ru-RU" sz="2400" dirty="0">
              <a:effectLst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E12A87C-601D-4B4D-B720-02CFBA680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58" y="2794999"/>
            <a:ext cx="4229886" cy="25911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5CB6471-DBD9-460F-9D8A-68E7F5BBEF2A}"/>
              </a:ext>
            </a:extLst>
          </p:cNvPr>
          <p:cNvSpPr txBox="1"/>
          <p:nvPr/>
        </p:nvSpPr>
        <p:spPr>
          <a:xfrm>
            <a:off x="6124253" y="2084836"/>
            <a:ext cx="3017975" cy="462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lnSpc>
                <a:spcPct val="108000"/>
              </a:lnSpc>
            </a:pPr>
            <a:r>
              <a:rPr lang="ru-RU" sz="2400" dirty="0">
                <a:effectLst/>
                <a:latin typeface="Times New Roman, serif"/>
              </a:rPr>
              <a:t>2) Дерево:</a:t>
            </a:r>
            <a:endParaRPr lang="ru-RU" sz="2400" dirty="0">
              <a:effectLst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FFCE615-157B-4BF1-8692-56A71880C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010" y="2894787"/>
            <a:ext cx="5891417" cy="184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269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2913AF9-02F2-499F-8331-8DAC834879B8}"/>
              </a:ext>
            </a:extLst>
          </p:cNvPr>
          <p:cNvSpPr txBox="1">
            <a:spLocks/>
          </p:cNvSpPr>
          <p:nvPr/>
        </p:nvSpPr>
        <p:spPr>
          <a:xfrm>
            <a:off x="4195580" y="156819"/>
            <a:ext cx="2452392" cy="730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b="1" dirty="0">
                <a:effectLst/>
                <a:latin typeface="Times New Roman" panose="02020603050405020304" pitchFamily="18" charset="0"/>
              </a:rPr>
              <a:t>Задание 7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1637FB-044C-40B7-86ED-C7DAE2611CC1}"/>
              </a:ext>
            </a:extLst>
          </p:cNvPr>
          <p:cNvSpPr txBox="1"/>
          <p:nvPr/>
        </p:nvSpPr>
        <p:spPr>
          <a:xfrm>
            <a:off x="345559" y="1314042"/>
            <a:ext cx="3035594" cy="587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08000"/>
              </a:lnSpc>
            </a:pPr>
            <a:r>
              <a:rPr lang="ru-RU" sz="3200" dirty="0">
                <a:effectLst/>
                <a:latin typeface="Times New Roman, serif"/>
              </a:rPr>
              <a:t>3) Двудольный</a:t>
            </a:r>
            <a:r>
              <a:rPr lang="ru-RU" sz="2400" dirty="0">
                <a:effectLst/>
                <a:latin typeface="Times New Roman, serif"/>
              </a:rPr>
              <a:t>:</a:t>
            </a:r>
            <a:endParaRPr lang="ru-RU" sz="2400" dirty="0">
              <a:effectLst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DEF5459-523A-4B82-A302-966335710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48" y="2117383"/>
            <a:ext cx="5830030" cy="16678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895289C-E6EF-4902-ABDD-6349F38BBA9D}"/>
              </a:ext>
            </a:extLst>
          </p:cNvPr>
          <p:cNvSpPr txBox="1"/>
          <p:nvPr/>
        </p:nvSpPr>
        <p:spPr>
          <a:xfrm>
            <a:off x="6873948" y="1721787"/>
            <a:ext cx="6092456" cy="462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08000"/>
              </a:lnSpc>
            </a:pPr>
            <a:r>
              <a:rPr lang="ru-RU" sz="2400" dirty="0">
                <a:effectLst/>
                <a:latin typeface="Times New Roman, serif"/>
              </a:rPr>
              <a:t>4) Гамильтонов:</a:t>
            </a:r>
            <a:endParaRPr lang="ru-RU" sz="2400" dirty="0">
              <a:effectLst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A2DED03-CFC6-43DE-936C-44D08C537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972" y="2951287"/>
            <a:ext cx="5439534" cy="272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599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9DDA75A-9768-46F3-AE92-F91AB8F05C95}"/>
              </a:ext>
            </a:extLst>
          </p:cNvPr>
          <p:cNvSpPr txBox="1">
            <a:spLocks/>
          </p:cNvSpPr>
          <p:nvPr/>
        </p:nvSpPr>
        <p:spPr>
          <a:xfrm>
            <a:off x="4195580" y="156819"/>
            <a:ext cx="2452392" cy="730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b="1">
                <a:effectLst/>
                <a:latin typeface="Times New Roman" panose="02020603050405020304" pitchFamily="18" charset="0"/>
              </a:rPr>
              <a:t>Задание 7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FFA812-7B81-415F-833C-5232959CAA68}"/>
              </a:ext>
            </a:extLst>
          </p:cNvPr>
          <p:cNvSpPr txBox="1"/>
          <p:nvPr/>
        </p:nvSpPr>
        <p:spPr>
          <a:xfrm>
            <a:off x="3888823" y="1675550"/>
            <a:ext cx="2759149" cy="587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08000"/>
              </a:lnSpc>
            </a:pPr>
            <a:r>
              <a:rPr lang="ru-RU" sz="3200" dirty="0">
                <a:effectLst/>
                <a:latin typeface="Times New Roman, serif"/>
              </a:rPr>
              <a:t>5) Планарный</a:t>
            </a:r>
            <a:r>
              <a:rPr lang="ru-RU" sz="2400" dirty="0">
                <a:effectLst/>
                <a:latin typeface="Times New Roman, serif"/>
              </a:rPr>
              <a:t>:</a:t>
            </a:r>
            <a:endParaRPr lang="ru-RU" sz="2400" dirty="0">
              <a:effectLst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70ABEAA-5978-4486-A43E-7F0452AC8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370" y="3051584"/>
            <a:ext cx="5877350" cy="189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763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2AF6392-71E7-40AF-BE72-53773E1E6B51}"/>
              </a:ext>
            </a:extLst>
          </p:cNvPr>
          <p:cNvSpPr txBox="1">
            <a:spLocks/>
          </p:cNvSpPr>
          <p:nvPr/>
        </p:nvSpPr>
        <p:spPr>
          <a:xfrm>
            <a:off x="4195580" y="156819"/>
            <a:ext cx="2452392" cy="730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b="1">
                <a:effectLst/>
                <a:latin typeface="Times New Roman" panose="02020603050405020304" pitchFamily="18" charset="0"/>
              </a:rPr>
              <a:t>Задание 7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AECD9C-7C33-4D87-B7E1-534BC32C3571}"/>
              </a:ext>
            </a:extLst>
          </p:cNvPr>
          <p:cNvSpPr txBox="1"/>
          <p:nvPr/>
        </p:nvSpPr>
        <p:spPr>
          <a:xfrm>
            <a:off x="2812312" y="1207718"/>
            <a:ext cx="7139762" cy="462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lnSpc>
                <a:spcPct val="108000"/>
              </a:lnSpc>
            </a:pPr>
            <a:r>
              <a:rPr lang="ru-RU" sz="2400" dirty="0">
                <a:effectLst/>
                <a:latin typeface="Times New Roman, serif"/>
              </a:rPr>
              <a:t>Б) Формируем списки вершин, степеней и ребер:</a:t>
            </a:r>
            <a:endParaRPr lang="ru-RU" sz="2400" dirty="0">
              <a:effectLst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E83D0FE-8716-4C2C-8764-FC31F2830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952" y="2341864"/>
            <a:ext cx="5542095" cy="184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09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E7B7813-E098-4A2E-A43E-593D68F25676}"/>
              </a:ext>
            </a:extLst>
          </p:cNvPr>
          <p:cNvSpPr txBox="1">
            <a:spLocks/>
          </p:cNvSpPr>
          <p:nvPr/>
        </p:nvSpPr>
        <p:spPr>
          <a:xfrm>
            <a:off x="4195580" y="156819"/>
            <a:ext cx="2452392" cy="730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b="1">
                <a:effectLst/>
                <a:latin typeface="Times New Roman" panose="02020603050405020304" pitchFamily="18" charset="0"/>
              </a:rPr>
              <a:t>Задание 7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AED3B1-C59B-466B-80C2-16057F34BF34}"/>
              </a:ext>
            </a:extLst>
          </p:cNvPr>
          <p:cNvSpPr txBox="1"/>
          <p:nvPr/>
        </p:nvSpPr>
        <p:spPr>
          <a:xfrm>
            <a:off x="3089644" y="886921"/>
            <a:ext cx="6012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lnSpc>
                <a:spcPct val="100000"/>
              </a:lnSpc>
            </a:pPr>
            <a:r>
              <a:rPr lang="ru-RU" sz="2400" dirty="0">
                <a:effectLst/>
                <a:latin typeface="Times New Roman, serif"/>
              </a:rPr>
              <a:t>В) Найдем характеристики степеней:</a:t>
            </a:r>
            <a:endParaRPr lang="ru-RU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4A008D-817F-4971-A0B3-FA5BA0ED52FE}"/>
              </a:ext>
            </a:extLst>
          </p:cNvPr>
          <p:cNvSpPr txBox="1"/>
          <p:nvPr/>
        </p:nvSpPr>
        <p:spPr>
          <a:xfrm>
            <a:off x="388088" y="1709356"/>
            <a:ext cx="36017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lnSpc>
                <a:spcPct val="100000"/>
              </a:lnSpc>
            </a:pPr>
            <a:r>
              <a:rPr lang="ru-RU" sz="2400" dirty="0">
                <a:effectLst/>
                <a:latin typeface="Times New Roman, serif"/>
              </a:rPr>
              <a:t>1) Средняя степень вершин:</a:t>
            </a:r>
            <a:endParaRPr lang="ru-RU" sz="2400" dirty="0">
              <a:effectLst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39FC68E-C299-41A8-8FA5-8321D5323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13" y="2949799"/>
            <a:ext cx="5630061" cy="12668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67F3F95-774E-40D8-B5BF-E82A99EB4FC7}"/>
              </a:ext>
            </a:extLst>
          </p:cNvPr>
          <p:cNvSpPr txBox="1"/>
          <p:nvPr/>
        </p:nvSpPr>
        <p:spPr>
          <a:xfrm>
            <a:off x="6099544" y="2234460"/>
            <a:ext cx="6092456" cy="462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lnSpc>
                <a:spcPct val="108000"/>
              </a:lnSpc>
            </a:pPr>
            <a:r>
              <a:rPr lang="ru-RU" sz="2400" dirty="0">
                <a:effectLst/>
                <a:latin typeface="Times New Roman, serif"/>
              </a:rPr>
              <a:t>2) Минимальная степень вершин:</a:t>
            </a:r>
            <a:endParaRPr lang="ru-RU" sz="2400" dirty="0">
              <a:effectLst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4A939CD-018F-4C7C-A6BC-85A9A9DAC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972" y="3583219"/>
            <a:ext cx="4290488" cy="145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65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44D550D-D598-46F1-B2C0-FFD67152A47E}"/>
              </a:ext>
            </a:extLst>
          </p:cNvPr>
          <p:cNvSpPr txBox="1">
            <a:spLocks/>
          </p:cNvSpPr>
          <p:nvPr/>
        </p:nvSpPr>
        <p:spPr>
          <a:xfrm>
            <a:off x="4195580" y="156819"/>
            <a:ext cx="2452392" cy="730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b="1">
                <a:effectLst/>
                <a:latin typeface="Times New Roman" panose="02020603050405020304" pitchFamily="18" charset="0"/>
              </a:rPr>
              <a:t>Задание 7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E5113C-14DA-41C7-93F0-E023D98A5A89}"/>
              </a:ext>
            </a:extLst>
          </p:cNvPr>
          <p:cNvSpPr txBox="1"/>
          <p:nvPr/>
        </p:nvSpPr>
        <p:spPr>
          <a:xfrm>
            <a:off x="387352" y="1264268"/>
            <a:ext cx="3758609" cy="906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lang="ru-RU" sz="2400" dirty="0">
                <a:effectLst/>
                <a:latin typeface="Times New Roman, serif"/>
              </a:rPr>
              <a:t>3) Максимальная степень вершин:</a:t>
            </a:r>
            <a:endParaRPr lang="ru-RU" sz="2400" dirty="0">
              <a:effectLst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5B8A452-CA4F-4004-8C01-D6632F6E7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2" y="2422651"/>
            <a:ext cx="4146643" cy="16480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21E0FC-ED95-45EA-87A3-0C86585AC952}"/>
              </a:ext>
            </a:extLst>
          </p:cNvPr>
          <p:cNvSpPr txBox="1"/>
          <p:nvPr/>
        </p:nvSpPr>
        <p:spPr>
          <a:xfrm>
            <a:off x="5712192" y="1755749"/>
            <a:ext cx="60924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ru-RU" sz="2400" dirty="0">
                <a:effectLst/>
                <a:latin typeface="Times New Roman, serif"/>
              </a:rPr>
              <a:t>4) Степень и смежные вершины для вершины 5:</a:t>
            </a:r>
            <a:endParaRPr lang="ru-RU" sz="2400" dirty="0">
              <a:effectLst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C95AE61-22F5-4401-9634-ADEE99B35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000" y="3429000"/>
            <a:ext cx="5430008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764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34C265-61ED-436B-80F0-0CB449E7E396}"/>
              </a:ext>
            </a:extLst>
          </p:cNvPr>
          <p:cNvSpPr txBox="1">
            <a:spLocks/>
          </p:cNvSpPr>
          <p:nvPr/>
        </p:nvSpPr>
        <p:spPr>
          <a:xfrm>
            <a:off x="4195580" y="156819"/>
            <a:ext cx="2452392" cy="730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b="1">
                <a:effectLst/>
                <a:latin typeface="Times New Roman" panose="02020603050405020304" pitchFamily="18" charset="0"/>
              </a:rPr>
              <a:t>Задание 7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FD8E51-F240-48EA-ACAA-920774A3AE98}"/>
              </a:ext>
            </a:extLst>
          </p:cNvPr>
          <p:cNvSpPr txBox="1"/>
          <p:nvPr/>
        </p:nvSpPr>
        <p:spPr>
          <a:xfrm>
            <a:off x="3685217" y="1004689"/>
            <a:ext cx="4459322" cy="462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08000"/>
              </a:lnSpc>
            </a:pPr>
            <a:r>
              <a:rPr lang="ru-RU" sz="2400" dirty="0">
                <a:effectLst/>
                <a:latin typeface="Times New Roman, serif"/>
              </a:rPr>
              <a:t>5) Метрики (т.к. граф связный):</a:t>
            </a:r>
            <a:endParaRPr lang="ru-RU" sz="2400" dirty="0">
              <a:effectLst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37D197D-33B9-4CDB-92E3-6F5C40C9D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443" y="1585341"/>
            <a:ext cx="6373114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439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57BFC0A-A13A-4747-AB06-60A49F9AD4A8}"/>
              </a:ext>
            </a:extLst>
          </p:cNvPr>
          <p:cNvSpPr txBox="1">
            <a:spLocks/>
          </p:cNvSpPr>
          <p:nvPr/>
        </p:nvSpPr>
        <p:spPr>
          <a:xfrm>
            <a:off x="4195580" y="156819"/>
            <a:ext cx="2452392" cy="730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b="1" dirty="0">
                <a:effectLst/>
                <a:latin typeface="Times New Roman" panose="02020603050405020304" pitchFamily="18" charset="0"/>
              </a:rPr>
              <a:t>Задание 8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6C4D10-D4A8-49CC-B67D-6AE1ADF105F4}"/>
              </a:ext>
            </a:extLst>
          </p:cNvPr>
          <p:cNvSpPr txBox="1"/>
          <p:nvPr/>
        </p:nvSpPr>
        <p:spPr>
          <a:xfrm>
            <a:off x="2375548" y="886921"/>
            <a:ext cx="6092456" cy="906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lnSpc>
                <a:spcPct val="115000"/>
              </a:lnSpc>
            </a:pPr>
            <a:r>
              <a:rPr lang="ru-RU" sz="2400" dirty="0">
                <a:effectLst/>
                <a:latin typeface="Times New Roman, serif"/>
              </a:rPr>
              <a:t>Создаем случайный орграф H c 15 вершинами, p=0.5:</a:t>
            </a:r>
            <a:endParaRPr lang="ru-RU" sz="2400" dirty="0">
              <a:effectLst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01DFA29-2CD3-4A9A-881E-6D78456D1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34" y="2070513"/>
            <a:ext cx="4553217" cy="90698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59CABF0-17F0-4E5C-A116-1A5869F47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26" y="2524002"/>
            <a:ext cx="4369561" cy="3974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817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4D5C5AF-5572-479C-BFE5-E8EDB7D9DC74}"/>
              </a:ext>
            </a:extLst>
          </p:cNvPr>
          <p:cNvSpPr txBox="1">
            <a:spLocks/>
          </p:cNvSpPr>
          <p:nvPr/>
        </p:nvSpPr>
        <p:spPr>
          <a:xfrm>
            <a:off x="4195580" y="156819"/>
            <a:ext cx="2452392" cy="730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b="1" dirty="0">
                <a:effectLst/>
                <a:latin typeface="Times New Roman" panose="02020603050405020304" pitchFamily="18" charset="0"/>
              </a:rPr>
              <a:t>Задание 8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22A3CD-A10B-41A3-9D68-09C7AC7F3DC4}"/>
              </a:ext>
            </a:extLst>
          </p:cNvPr>
          <p:cNvSpPr txBox="1"/>
          <p:nvPr/>
        </p:nvSpPr>
        <p:spPr>
          <a:xfrm>
            <a:off x="143923" y="1090976"/>
            <a:ext cx="5277853" cy="906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lnSpc>
                <a:spcPct val="115000"/>
              </a:lnSpc>
            </a:pPr>
            <a:r>
              <a:rPr lang="ru-RU" sz="2400" dirty="0">
                <a:effectLst/>
                <a:latin typeface="Times New Roman, serif"/>
              </a:rPr>
              <a:t>А) Выясняем, является ли граф H сильно связным:</a:t>
            </a:r>
            <a:endParaRPr lang="ru-RU" sz="2400" dirty="0">
              <a:effectLst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707C7CC-833D-4A8B-978F-28C114988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23" y="2410558"/>
            <a:ext cx="5787112" cy="26580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92D425-E663-4BC8-96AC-8291C8D51DFC}"/>
              </a:ext>
            </a:extLst>
          </p:cNvPr>
          <p:cNvSpPr txBox="1"/>
          <p:nvPr/>
        </p:nvSpPr>
        <p:spPr>
          <a:xfrm>
            <a:off x="6444383" y="1090976"/>
            <a:ext cx="5277853" cy="906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lnSpc>
                <a:spcPct val="115000"/>
              </a:lnSpc>
            </a:pPr>
            <a:r>
              <a:rPr lang="ru-RU" sz="2400" dirty="0">
                <a:effectLst/>
                <a:latin typeface="Times New Roman, serif"/>
              </a:rPr>
              <a:t>Б) Находим степени исхода и захода вершины с номером 5:</a:t>
            </a:r>
            <a:endParaRPr lang="ru-RU" sz="2400" dirty="0">
              <a:effectLst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6E4F641-A642-46B0-AE69-CE7461045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383" y="2410558"/>
            <a:ext cx="5210902" cy="294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471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0EF0A2D-A7FC-4ED7-9AD0-6487ED3F74C6}"/>
              </a:ext>
            </a:extLst>
          </p:cNvPr>
          <p:cNvSpPr txBox="1">
            <a:spLocks/>
          </p:cNvSpPr>
          <p:nvPr/>
        </p:nvSpPr>
        <p:spPr>
          <a:xfrm>
            <a:off x="4195580" y="156819"/>
            <a:ext cx="2452392" cy="730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B5AF5B2C-C5D1-4C27-BD5D-DCA4B73C366E}"/>
              </a:ext>
            </a:extLst>
          </p:cNvPr>
          <p:cNvSpPr txBox="1">
            <a:spLocks/>
          </p:cNvSpPr>
          <p:nvPr/>
        </p:nvSpPr>
        <p:spPr>
          <a:xfrm>
            <a:off x="4347980" y="309219"/>
            <a:ext cx="2726588" cy="730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b="1" dirty="0">
                <a:effectLst/>
                <a:latin typeface="Times New Roman" panose="02020603050405020304" pitchFamily="18" charset="0"/>
              </a:rPr>
              <a:t>Заключение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32657A-35BA-4254-8036-D6E88E9A58D2}"/>
              </a:ext>
            </a:extLst>
          </p:cNvPr>
          <p:cNvSpPr txBox="1"/>
          <p:nvPr/>
        </p:nvSpPr>
        <p:spPr>
          <a:xfrm>
            <a:off x="913943" y="1191720"/>
            <a:ext cx="10219278" cy="5565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lnSpc>
                <a:spcPct val="150000"/>
              </a:lnSpc>
            </a:pPr>
            <a:r>
              <a:rPr lang="ru-RU" sz="2400" dirty="0">
                <a:effectLst/>
                <a:latin typeface="Times New Roman, serif"/>
              </a:rPr>
              <a:t>В ходе выполнения лабораторной работы были успешно решены все задания по варианту №2. Были выполнены операции по созданию, визуализации и анализу как ориентированных (орграфов), так и неориентированных графов (включая графы специального вида). Были построены матрицы смежности для графов, найдено дополнение графа, а также выполнено исследование ключевых свойств случайных графов. В частности, были определены связность (обычная и сильная), гамильтонов цикл, планарность, степени вершин (исхода/захода) и метрические характеристики (диаметр, радиус, центр графа). Все поставленные задачи были полностью выполнены, и цель работы достигнута.</a:t>
            </a:r>
            <a:endParaRPr lang="ru-RU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28988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1B2625C-086D-476D-AB6E-7125FFBE33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Лабораторная работа</a:t>
            </a:r>
            <a:r>
              <a:rPr lang="en-US" sz="4400" dirty="0"/>
              <a:t> </a:t>
            </a:r>
            <a:r>
              <a:rPr lang="ru-RU" sz="4400" dirty="0"/>
              <a:t>№2 </a:t>
            </a:r>
            <a:br>
              <a:rPr lang="en-US" sz="4400" dirty="0"/>
            </a:br>
            <a:r>
              <a:rPr lang="ru-RU" sz="4400" dirty="0"/>
              <a:t>"Задания по теории графов"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838A336B-A423-4D30-9FE7-C215850ED0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Вариант №2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A16CD3-6701-4A0F-9401-A8A0E2FE650E}"/>
              </a:ext>
            </a:extLst>
          </p:cNvPr>
          <p:cNvSpPr txBox="1"/>
          <p:nvPr/>
        </p:nvSpPr>
        <p:spPr>
          <a:xfrm>
            <a:off x="8229600" y="5191035"/>
            <a:ext cx="396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Руководитель: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Агалаков С.А.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Выполнил: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Кошкаров Д</a:t>
            </a:r>
            <a:r>
              <a:rPr kumimoji="0" lang="en-GB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</a:t>
            </a:r>
            <a:r>
              <a:rPr kumimoji="0" lang="en-GB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GB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ММБ-304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51136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етка">
  <a:themeElements>
    <a:clrScheme name="Сетка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Сетка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етк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TM03457485[[fn=Сетка]]</Template>
  <TotalTime>581</TotalTime>
  <Words>584</Words>
  <Application>Microsoft Office PowerPoint</Application>
  <PresentationFormat>Широкоэкранный</PresentationFormat>
  <Paragraphs>74</Paragraphs>
  <Slides>25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Arial</vt:lpstr>
      <vt:lpstr>Calibri</vt:lpstr>
      <vt:lpstr>Century Gothic</vt:lpstr>
      <vt:lpstr>Times New Roman</vt:lpstr>
      <vt:lpstr>Times New Roman, serif</vt:lpstr>
      <vt:lpstr>Сетка</vt:lpstr>
      <vt:lpstr>Лабораторная работа №2  "Задания по теории графов"</vt:lpstr>
      <vt:lpstr>Цель работы</vt:lpstr>
      <vt:lpstr>Задание 1 Необходимо создать неориентированный граф G </vt:lpstr>
      <vt:lpstr>Задание 1</vt:lpstr>
      <vt:lpstr>Задание 1</vt:lpstr>
      <vt:lpstr>Задание 2 </vt:lpstr>
      <vt:lpstr>Задание 3 </vt:lpstr>
      <vt:lpstr>Задание 3</vt:lpstr>
      <vt:lpstr>Задание 4 Создаем и изображаем графы специального вида </vt:lpstr>
      <vt:lpstr>Задание 4</vt:lpstr>
      <vt:lpstr>Задание 4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Лабораторная работа №2  "Задания по теории графов"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данил кошкаров</dc:creator>
  <cp:lastModifiedBy>данил кошкаров</cp:lastModifiedBy>
  <cp:revision>14</cp:revision>
  <dcterms:created xsi:type="dcterms:W3CDTF">2025-11-13T03:39:33Z</dcterms:created>
  <dcterms:modified xsi:type="dcterms:W3CDTF">2025-11-16T23:06:59Z</dcterms:modified>
</cp:coreProperties>
</file>
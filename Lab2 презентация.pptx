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8" r:id="rId1"/>
  </p:sldMasterIdLst>
  <p:notesMasterIdLst>
    <p:notesMasterId r:id="rId27"/>
  </p:notesMasterIdLst>
  <p:handoutMasterIdLst>
    <p:handoutMasterId r:id="rId2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1" d="100"/>
          <a:sy n="91" d="100"/>
        </p:scale>
        <p:origin x="375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77EC450F-4839-4B47-9663-E4A41A58319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175923E-AAA5-4926-A854-F0FB21D0CD3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D2C45D-7CFD-4C19-8DB3-516A8761C648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B74988F-BB11-4EA2-B25E-9DB4E13BB50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C3B9C7C-808C-4B74-BC39-EED9F5ED9A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76333-C273-4DF9-8CB1-47F77E2C29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43076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656EB3-781E-417F-B5EC-5DC0FACEE1EE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87B37-422F-4B3E-83FE-22AB4DFAD5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1607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987B37-422F-4B3E-83FE-22AB4DFAD5E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36018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132311-EE09-7132-6E08-3E21C15E02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4C8EE6D-9C66-7357-8D08-A2145D6BA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B74D86-B386-D7DC-831A-04B278E3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29E6CA-5AC1-BB64-7770-87A22F543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0F30793-415F-37E5-1A83-162595812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2608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60965B-7F55-B2CB-6672-1637E8901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1F649C-C212-6D25-666A-23AB128380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660AA9-9F79-A869-492F-F6CCE47D7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C8543B-5BB8-1377-60DC-A2E7287B7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C03D42-182C-9DBD-CE67-DC8AF6AD2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8252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D4506-0191-8BA8-0F72-D3DF38AD4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5B9FDC-8D8C-1A30-BB6E-AFA23B41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AA5BCEB-72A9-7AD4-F171-1DE85D3DD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8D1FAA-2EBE-DC8E-0754-A50655A7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EB79BE-8953-F7BC-E106-B678416A4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4133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1B9621-848F-30B3-B837-6EE0CCB36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D47198-F64F-8CC9-4572-7F44BBF243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5C5E54-D601-0110-AA96-B7A105749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35280C-542F-B879-169F-265AA9385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216669B-DEEE-8532-AB5C-B4031DEA3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3EDE64-E7AF-F5BD-3327-3AC17A6A3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719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607362-6CF7-CD78-7965-A171A254E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F121DC6-76F5-769A-12B9-00984DA24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FFB19C-B0D2-A86A-D6ED-52FFB51D9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B524B2-2205-98D1-F834-BE1DE8CCDC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8519CD3-8E0A-ADE7-73F6-27053BDC05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9BF9D8-319E-51AF-5F3F-4FCCBBC76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460D1B3-3158-8402-45A7-1C8550540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7854780-4464-7741-9214-648C73686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3321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982CC-7ACE-5D85-DDE9-716D72E2B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E6ECB11-C88A-2C83-AC8E-7544E6EE1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F8C025F-0059-DA52-EEFD-0330EFCC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4329E1B-1437-2039-FE8D-BD33EF63A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9385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67939E6-3468-1479-F2B4-0235769A0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DB7269-F23B-7027-CC49-5212C6D8C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B0AF0BC-906D-68A4-1704-E0B2D253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3883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C347AF-518E-28D2-9C23-206008DA4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26486CA-84DC-6B71-276F-DF2A1D592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C87E330-B18C-E4E9-3A64-20D5CFE2F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430BE9D-7574-5B5B-0B6F-94FA71466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0090C1A-B028-A849-698B-367546829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5A1038D-A8C2-8EEA-1E47-C40D88537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6587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602A0D-D1A5-4D81-8A7A-502C0B249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8BCC6AF-4EDB-73C0-8A66-48A6038EC7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DCF44A-BF18-5A96-F3AF-69B00C9081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BA26F4-E18F-F512-EE48-AB0644582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CB7F7B3-4476-C80C-5BB4-D51D3F9E4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0B1899-E146-1CE9-E3A3-C14FD7115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9327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3056DD-0991-DC7B-0736-B9284BC4E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78476D-5719-33CC-1CDB-C02F50EB6F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2AA2D5-7911-19B1-03FF-4DAAA2F3D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6F81F1-03CF-EC67-7EB5-0206CEEEE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A5B4F7-3C0D-6D31-B2CA-1D6EDAD9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0937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D0C9D81-02B3-BF76-ACCA-95876B9178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17FBA24-35A0-3EC8-1F22-AB6D4B831B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FB554C-C5A1-B813-5E39-ED3C04923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13B41BB-1F8A-B746-3EF9-B3EB5C62A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678C44-BBB9-A3DB-001E-58BA4BFE4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8027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DFA238-DBBA-C682-15A3-5E04899C5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6332346-1C95-A15D-A192-F3752FCA5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493843C-2D1B-7F99-20A9-19C4F1D09A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EF48A-07EF-4B56-98CC-C04B85084176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DCFE81-951E-302B-7CE6-B45B686FF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A6D981-B97F-5296-5D49-2506931F69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571A86-228C-4398-8B0D-AB49A380E3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7598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0" r:id="rId2"/>
    <p:sldLayoutId id="2147483901" r:id="rId3"/>
    <p:sldLayoutId id="2147483902" r:id="rId4"/>
    <p:sldLayoutId id="2147483903" r:id="rId5"/>
    <p:sldLayoutId id="2147483904" r:id="rId6"/>
    <p:sldLayoutId id="2147483905" r:id="rId7"/>
    <p:sldLayoutId id="2147483906" r:id="rId8"/>
    <p:sldLayoutId id="2147483907" r:id="rId9"/>
    <p:sldLayoutId id="2147483908" r:id="rId10"/>
    <p:sldLayoutId id="214748390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1B2625C-086D-476D-AB6E-7125FFBE33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4400" dirty="0"/>
              <a:t>Лабораторная работа</a:t>
            </a:r>
            <a:r>
              <a:rPr lang="en-US" sz="4400" dirty="0"/>
              <a:t> </a:t>
            </a:r>
            <a:r>
              <a:rPr lang="ru-RU" sz="4400" dirty="0"/>
              <a:t>№2 </a:t>
            </a:r>
            <a:br>
              <a:rPr lang="en-US" sz="4400" dirty="0"/>
            </a:br>
            <a:r>
              <a:rPr lang="ru-RU" sz="4400" dirty="0"/>
              <a:t>"Задания по теории графов"</a:t>
            </a: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id="{838A336B-A423-4D30-9FE7-C215850ED0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Вариант №27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A16CD3-6701-4A0F-9401-A8A0E2FE650E}"/>
              </a:ext>
            </a:extLst>
          </p:cNvPr>
          <p:cNvSpPr txBox="1"/>
          <p:nvPr/>
        </p:nvSpPr>
        <p:spPr>
          <a:xfrm>
            <a:off x="8229600" y="5191035"/>
            <a:ext cx="396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Руководитель: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Агалаков С.А.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Выполнил: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Кабанов А</a:t>
            </a:r>
            <a:r>
              <a:rPr kumimoji="0" lang="en-GB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А. </a:t>
            </a:r>
            <a:endParaRPr kumimoji="0" lang="en-GB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ММБ-304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045629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C0CE29-FC53-4A77-B110-9E7BF45F9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5400" dirty="0"/>
              <a:t>Цель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56C042-39DC-4601-979D-8A9EB4D70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3200" b="1" dirty="0">
                <a:effectLst/>
                <a:latin typeface="Times New Roman, serif"/>
              </a:rPr>
              <a:t>Цель исследования</a:t>
            </a:r>
            <a:r>
              <a:rPr lang="ru-RU" sz="3200" dirty="0">
                <a:effectLst/>
                <a:latin typeface="Times New Roman, serif"/>
              </a:rPr>
              <a:t> - практическое освоение методов работы с графами, изучение их свойств и характеристик, используя систему компьютерной алгебры Maxima с библиотекой </a:t>
            </a:r>
            <a:r>
              <a:rPr lang="ru-RU" sz="3200" dirty="0" err="1">
                <a:effectLst/>
                <a:latin typeface="Times New Roman, serif"/>
              </a:rPr>
              <a:t>graphs</a:t>
            </a:r>
            <a:r>
              <a:rPr lang="ru-RU" sz="3200" dirty="0">
                <a:effectLst/>
                <a:latin typeface="Times New Roman, serif"/>
              </a:rPr>
              <a:t>.</a:t>
            </a:r>
            <a:endParaRPr lang="ru-RU" sz="3600" dirty="0">
              <a:effectLst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28161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3181DF-4764-4CE8-8B1F-F7B39895C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388" y="358748"/>
            <a:ext cx="10515600" cy="1325563"/>
          </a:xfrm>
        </p:spPr>
        <p:txBody>
          <a:bodyPr>
            <a:normAutofit fontScale="90000"/>
          </a:bodyPr>
          <a:lstStyle/>
          <a:p>
            <a:pPr algn="ctr" rtl="0">
              <a:lnSpc>
                <a:spcPct val="100000"/>
              </a:lnSpc>
            </a:pPr>
            <a:r>
              <a:rPr lang="ru-RU" sz="3400" b="1" dirty="0">
                <a:effectLst/>
                <a:latin typeface="Times New Roman" panose="02020603050405020304" pitchFamily="18" charset="0"/>
              </a:rPr>
              <a:t>Задание 1</a:t>
            </a:r>
            <a:br>
              <a:rPr lang="ru-RU" sz="3100" b="1" dirty="0">
                <a:effectLst/>
                <a:latin typeface="Times New Roman" panose="02020603050405020304" pitchFamily="18" charset="0"/>
              </a:rPr>
            </a:br>
            <a:r>
              <a:rPr lang="ru-RU" sz="3100" dirty="0">
                <a:effectLst/>
                <a:latin typeface="Times New Roman, serif"/>
              </a:rPr>
              <a:t>Необходимо создать неориентированный граф G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5DC633-1A12-4EB3-B8B7-67DD6FF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929" y="1816429"/>
            <a:ext cx="6364784" cy="10234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>
                <a:effectLst/>
                <a:latin typeface="Times New Roman, serif"/>
              </a:rPr>
              <a:t>А) Создаем граф и выводим список смежности:</a:t>
            </a:r>
            <a:endParaRPr lang="ru-RU" sz="3200" dirty="0">
              <a:effectLst/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391F36-6FDA-4E3C-BBE5-087D8EAD61AC}"/>
              </a:ext>
            </a:extLst>
          </p:cNvPr>
          <p:cNvSpPr txBox="1"/>
          <p:nvPr/>
        </p:nvSpPr>
        <p:spPr>
          <a:xfrm>
            <a:off x="7086601" y="1682310"/>
            <a:ext cx="44265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00000"/>
              </a:lnSpc>
            </a:pPr>
            <a:r>
              <a:rPr lang="ru-RU" sz="2800" dirty="0">
                <a:effectLst/>
                <a:latin typeface="Times New Roman, serif"/>
              </a:rPr>
              <a:t>Б) Строим изображение графа G:</a:t>
            </a:r>
            <a:endParaRPr lang="ru-RU" sz="2800" dirty="0">
              <a:effectLst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6DEFAC8-93C0-0E02-18B6-4D02F9759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388" y="3292279"/>
            <a:ext cx="6106377" cy="258163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72E059A-05CF-AF0E-FEC3-9A528C89B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6482" y="2900652"/>
            <a:ext cx="2720340" cy="245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96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C8AC8D-A58A-4EDA-A013-53364AB2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8555" y="232118"/>
            <a:ext cx="2135107" cy="1322773"/>
          </a:xfrm>
        </p:spPr>
        <p:txBody>
          <a:bodyPr/>
          <a:lstStyle/>
          <a:p>
            <a:r>
              <a:rPr lang="ru-RU" sz="3200" b="1" dirty="0">
                <a:effectLst/>
                <a:latin typeface="Times New Roman" panose="02020603050405020304" pitchFamily="18" charset="0"/>
              </a:rPr>
              <a:t>Задание 1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A84895-9C4E-4680-917E-FC90970B1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6508"/>
            <a:ext cx="4532023" cy="1572492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ru-RU" sz="3000" dirty="0">
                <a:effectLst/>
                <a:latin typeface="Times New Roman, serif"/>
              </a:rPr>
              <a:t>В) Делаем вершины помеченными и окрашиваем в зеленый цвет:</a:t>
            </a:r>
            <a:endParaRPr lang="ru-RU" sz="3500" dirty="0">
              <a:effectLst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93AB2C-4D2B-4ACA-975D-F724E22982F4}"/>
              </a:ext>
            </a:extLst>
          </p:cNvPr>
          <p:cNvSpPr txBox="1"/>
          <p:nvPr/>
        </p:nvSpPr>
        <p:spPr>
          <a:xfrm>
            <a:off x="6464968" y="1676984"/>
            <a:ext cx="6096000" cy="99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Г) Строим дополнение </a:t>
            </a:r>
            <a:r>
              <a:rPr lang="ru-RU" sz="2800" dirty="0" err="1">
                <a:effectLst/>
                <a:latin typeface="Times New Roman, serif"/>
              </a:rPr>
              <a:t>G_compl</a:t>
            </a:r>
            <a:r>
              <a:rPr lang="ru-RU" sz="2800" dirty="0">
                <a:effectLst/>
                <a:latin typeface="Times New Roman, serif"/>
              </a:rPr>
              <a:t> для графа G:</a:t>
            </a:r>
            <a:endParaRPr lang="ru-RU" sz="2800" dirty="0">
              <a:effectLst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F6A9974-EEFD-A96D-75B4-FA1C9A217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602" y="3116101"/>
            <a:ext cx="3649980" cy="329819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FE145F8-EAFB-2CF2-0F4B-43693DEE3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9979" y="2789092"/>
            <a:ext cx="2667963" cy="329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73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0A8AD7-42FD-4004-9495-51339174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1222" y="119606"/>
            <a:ext cx="8189623" cy="990600"/>
          </a:xfrm>
        </p:spPr>
        <p:txBody>
          <a:bodyPr/>
          <a:lstStyle/>
          <a:p>
            <a:pPr algn="ctr"/>
            <a:r>
              <a:rPr lang="ru-RU" sz="3200" b="1" dirty="0">
                <a:effectLst/>
                <a:latin typeface="Times New Roman" panose="02020603050405020304" pitchFamily="18" charset="0"/>
              </a:rPr>
              <a:t>Задание 1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D475C9-06D0-4BA2-B038-5496902F9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066800"/>
            <a:ext cx="5216237" cy="113607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ru-RU" sz="5100" dirty="0">
                <a:effectLst/>
                <a:latin typeface="Times New Roman, serif"/>
              </a:rPr>
              <a:t> Д) Находим матрицы смежности для G и </a:t>
            </a:r>
            <a:r>
              <a:rPr lang="ru-RU" sz="5100" dirty="0" err="1">
                <a:effectLst/>
                <a:latin typeface="Times New Roman, serif"/>
              </a:rPr>
              <a:t>G_compl</a:t>
            </a:r>
            <a:r>
              <a:rPr lang="ru-RU" sz="3300" dirty="0">
                <a:effectLst/>
                <a:latin typeface="Times New Roman, serif"/>
              </a:rPr>
              <a:t>:</a:t>
            </a:r>
            <a:endParaRPr lang="ru-RU" sz="3600" dirty="0">
              <a:effectLst/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CCA541-796C-4263-869B-8789ECC17785}"/>
              </a:ext>
            </a:extLst>
          </p:cNvPr>
          <p:cNvSpPr txBox="1"/>
          <p:nvPr/>
        </p:nvSpPr>
        <p:spPr>
          <a:xfrm>
            <a:off x="6096000" y="1110206"/>
            <a:ext cx="6161808" cy="52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Е) Создаем копию графа G:</a:t>
            </a:r>
            <a:endParaRPr lang="ru-RU" sz="2800" dirty="0">
              <a:effectLst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BDDC250-6EC0-0EC7-BD97-184F9C1D9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36" y="2057400"/>
            <a:ext cx="2848373" cy="333421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C294386-57C7-B2DE-E4EA-B6E82A6BC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433" y="2839848"/>
            <a:ext cx="2600688" cy="191479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EAD1D8C-2458-8A6C-9CA4-F235797F32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7214" y="2417706"/>
            <a:ext cx="2895600" cy="275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92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EC9C1A-6745-4B47-B21F-AAE43C66A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2434" y="0"/>
            <a:ext cx="2807132" cy="1905000"/>
          </a:xfrm>
        </p:spPr>
        <p:txBody>
          <a:bodyPr>
            <a:normAutofit/>
          </a:bodyPr>
          <a:lstStyle/>
          <a:p>
            <a:r>
              <a:rPr lang="ru-RU" sz="3100" b="1" dirty="0">
                <a:effectLst/>
                <a:latin typeface="Times New Roman" panose="02020603050405020304" pitchFamily="18" charset="0"/>
              </a:rPr>
              <a:t>Задание 2</a:t>
            </a:r>
            <a:br>
              <a:rPr lang="ru-RU" sz="1800" b="1" dirty="0">
                <a:effectLst/>
                <a:latin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F00B3F-24A1-4B86-8123-9F955A9B7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4870" y="1070264"/>
            <a:ext cx="7462260" cy="1676402"/>
          </a:xfrm>
        </p:spPr>
        <p:txBody>
          <a:bodyPr>
            <a:normAutofit/>
          </a:bodyPr>
          <a:lstStyle/>
          <a:p>
            <a:pPr marL="0" indent="0" algn="l" rtl="0">
              <a:lnSpc>
                <a:spcPct val="100000"/>
              </a:lnSpc>
              <a:buNone/>
            </a:pPr>
            <a:r>
              <a:rPr lang="ru-RU" sz="2800" b="1" dirty="0">
                <a:effectLst/>
                <a:latin typeface="Times New Roman, serif"/>
              </a:rPr>
              <a:t>Строим граф G_2 по матрице    смежности A</a:t>
            </a:r>
            <a:endParaRPr lang="ru-RU" sz="2800" b="1" dirty="0">
              <a:effectLst/>
              <a:latin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AA39F77-4C2D-47A2-0F6F-53EA30D8B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035" y="1826839"/>
            <a:ext cx="3503930" cy="419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33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F19F4-664E-4B44-9B1D-1445440E7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2824" y="152400"/>
            <a:ext cx="2786351" cy="1239982"/>
          </a:xfrm>
        </p:spPr>
        <p:txBody>
          <a:bodyPr>
            <a:normAutofit/>
          </a:bodyPr>
          <a:lstStyle/>
          <a:p>
            <a:r>
              <a:rPr lang="ru-RU" sz="3100" b="1" dirty="0">
                <a:effectLst/>
                <a:latin typeface="Times New Roman, serif"/>
              </a:rPr>
              <a:t>Задание 3</a:t>
            </a:r>
            <a:br>
              <a:rPr lang="ru-RU" sz="1800" b="1" dirty="0">
                <a:effectLst/>
                <a:latin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92B82C-99E8-47AC-951F-402784175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08364"/>
            <a:ext cx="5446423" cy="1239982"/>
          </a:xfrm>
        </p:spPr>
        <p:txBody>
          <a:bodyPr/>
          <a:lstStyle/>
          <a:p>
            <a:pPr marL="0" indent="0">
              <a:buNone/>
            </a:pPr>
            <a:r>
              <a:rPr lang="ru-RU" sz="2800" dirty="0">
                <a:effectLst/>
                <a:latin typeface="Times New Roman, serif"/>
              </a:rPr>
              <a:t>А) Создаем орграф G_3 = (V, E)</a:t>
            </a:r>
            <a:endParaRPr lang="ru-RU" sz="3200" dirty="0">
              <a:effectLst/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138543-BE79-48AB-8086-E875E7A6CE32}"/>
              </a:ext>
            </a:extLst>
          </p:cNvPr>
          <p:cNvSpPr txBox="1"/>
          <p:nvPr/>
        </p:nvSpPr>
        <p:spPr>
          <a:xfrm>
            <a:off x="6745579" y="1108364"/>
            <a:ext cx="6212177" cy="99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Б) Строим его изображение (дуги синего цвета):</a:t>
            </a:r>
            <a:endParaRPr lang="ru-RU" sz="2800" dirty="0">
              <a:effectLst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4AF9BA4-0A52-2D60-F116-65CF983C0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24" y="2532380"/>
            <a:ext cx="5940425" cy="179324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1A8C70F-361D-1DBF-8646-94D687B22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545" y="2220201"/>
            <a:ext cx="5324475" cy="298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513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24E25D-F9A9-40AB-8C34-CBF740B53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0252" y="450273"/>
            <a:ext cx="2391496" cy="616527"/>
          </a:xfrm>
        </p:spPr>
        <p:txBody>
          <a:bodyPr>
            <a:normAutofit/>
          </a:bodyPr>
          <a:lstStyle/>
          <a:p>
            <a:r>
              <a:rPr lang="ru-RU" sz="3100" b="1" dirty="0">
                <a:effectLst/>
                <a:latin typeface="Times New Roman, serif"/>
              </a:rPr>
              <a:t>Задание 3</a:t>
            </a:r>
            <a:endParaRPr lang="ru-RU" sz="31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442398-7F11-44B0-AF9C-E87336A72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7737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ru-RU" sz="2800" dirty="0">
                <a:effectLst/>
              </a:rPr>
              <a:t>   В) Находим матрицу смежности графа:</a:t>
            </a:r>
            <a:endParaRPr lang="ru-RU" sz="3200" dirty="0">
              <a:effectLst/>
            </a:endParaRPr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7BC1B55-A58E-35D0-7E27-8F9B08260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735" y="2375682"/>
            <a:ext cx="4714589" cy="31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0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4BF205-3F8C-433E-9F90-18C623254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66782"/>
            <a:ext cx="9905998" cy="1905000"/>
          </a:xfrm>
        </p:spPr>
        <p:txBody>
          <a:bodyPr>
            <a:normAutofit/>
          </a:bodyPr>
          <a:lstStyle/>
          <a:p>
            <a:pPr algn="ctr" rtl="0">
              <a:lnSpc>
                <a:spcPct val="100000"/>
              </a:lnSpc>
            </a:pPr>
            <a:r>
              <a:rPr lang="ru-RU" sz="3100" b="1" dirty="0">
                <a:effectLst/>
                <a:latin typeface="Times New Roman" panose="02020603050405020304" pitchFamily="18" charset="0"/>
              </a:rPr>
              <a:t>Задание 4</a:t>
            </a:r>
            <a:br>
              <a:rPr lang="ru-RU" sz="3100" b="1" dirty="0">
                <a:effectLst/>
                <a:latin typeface="Times New Roman" panose="02020603050405020304" pitchFamily="18" charset="0"/>
              </a:rPr>
            </a:br>
            <a:r>
              <a:rPr lang="ru-RU" sz="3100" dirty="0">
                <a:effectLst/>
                <a:latin typeface="Times New Roman, serif"/>
              </a:rPr>
              <a:t>Создаем и изображаем графы специального вида</a:t>
            </a:r>
            <a:br>
              <a:rPr lang="ru-RU" dirty="0">
                <a:effectLst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AFE96B-5E38-473F-9B87-27314FB80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704" y="2268681"/>
            <a:ext cx="3929351" cy="4918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>
                <a:effectLst/>
                <a:latin typeface="Times New Roman, serif"/>
              </a:rPr>
              <a:t>1) O5 (Пустой граф):</a:t>
            </a:r>
            <a:endParaRPr lang="ru-RU" sz="3200" dirty="0">
              <a:effectLst/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3D6549-9C44-41B8-94F3-723B04ED031D}"/>
              </a:ext>
            </a:extLst>
          </p:cNvPr>
          <p:cNvSpPr txBox="1"/>
          <p:nvPr/>
        </p:nvSpPr>
        <p:spPr>
          <a:xfrm>
            <a:off x="6094412" y="1995080"/>
            <a:ext cx="6099462" cy="556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lang="ru-RU" sz="2800" dirty="0">
                <a:effectLst/>
                <a:latin typeface="Times New Roman, serif"/>
              </a:rPr>
              <a:t>2) K10 (Полный граф):</a:t>
            </a:r>
            <a:endParaRPr lang="ru-RU" sz="2800" dirty="0">
              <a:effectLst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1BA8975-771A-A49B-8C78-6BE527705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304" y="3049732"/>
            <a:ext cx="3422218" cy="320014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491C395-3395-2ED0-DBFC-065878BEE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1575" y="3049732"/>
            <a:ext cx="3096260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9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B695B4-EF08-4D4A-85A0-4FDB558C5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5795" y="376145"/>
            <a:ext cx="2303535" cy="411125"/>
          </a:xfrm>
        </p:spPr>
        <p:txBody>
          <a:bodyPr>
            <a:noAutofit/>
          </a:bodyPr>
          <a:lstStyle/>
          <a:p>
            <a:r>
              <a:rPr lang="ru-RU" sz="3100" b="1" dirty="0">
                <a:effectLst/>
                <a:latin typeface="Times New Roman" panose="02020603050405020304" pitchFamily="18" charset="0"/>
              </a:rPr>
              <a:t>Задание 4</a:t>
            </a:r>
            <a:endParaRPr lang="ru-RU" sz="31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8B15DB-311B-4D35-BC55-7CD0FAEE7FDD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0800000" flipV="1">
            <a:off x="567255" y="1297171"/>
            <a:ext cx="4068540" cy="12546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>
                <a:effectLst/>
                <a:latin typeface="Times New Roman, serif"/>
              </a:rPr>
              <a:t>3) K5,5 (Полный двудольный граф):</a:t>
            </a:r>
            <a:endParaRPr lang="ru-RU" sz="3200" dirty="0">
              <a:effectLst/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23C849-C0C9-4CA7-B461-025BA8FBCC39}"/>
              </a:ext>
            </a:extLst>
          </p:cNvPr>
          <p:cNvSpPr txBox="1"/>
          <p:nvPr/>
        </p:nvSpPr>
        <p:spPr>
          <a:xfrm>
            <a:off x="6831418" y="1302487"/>
            <a:ext cx="6092456" cy="533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4) P20 (Путь):</a:t>
            </a:r>
            <a:endParaRPr lang="ru-RU" sz="2800" dirty="0">
              <a:effectLst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E5D61AE-BE7E-D88C-16DD-6EFAB23C1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32" y="2637928"/>
            <a:ext cx="3174283" cy="29229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68FA93D-47DF-62FE-D72A-F55D7CA81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767" y="2551814"/>
            <a:ext cx="3286125" cy="306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72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DDFD93-5EEA-41BA-B6C4-D6C16C5FB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9590" y="197125"/>
            <a:ext cx="2452392" cy="730102"/>
          </a:xfrm>
        </p:spPr>
        <p:txBody>
          <a:bodyPr>
            <a:normAutofit/>
          </a:bodyPr>
          <a:lstStyle/>
          <a:p>
            <a:r>
              <a:rPr lang="ru-RU" sz="3100" b="1" dirty="0">
                <a:effectLst/>
                <a:latin typeface="Times New Roman" panose="02020603050405020304" pitchFamily="18" charset="0"/>
              </a:rPr>
              <a:t>Задание</a:t>
            </a:r>
            <a:r>
              <a:rPr lang="ru-RU" sz="3200" b="1" dirty="0">
                <a:effectLst/>
                <a:latin typeface="Times New Roman" panose="02020603050405020304" pitchFamily="18" charset="0"/>
              </a:rPr>
              <a:t> 4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A0B5C3-A7BC-4208-827C-2BBA9255E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399" y="1093380"/>
            <a:ext cx="2665043" cy="762001"/>
          </a:xfrm>
        </p:spPr>
        <p:txBody>
          <a:bodyPr/>
          <a:lstStyle/>
          <a:p>
            <a:pPr marL="0" indent="0">
              <a:buNone/>
            </a:pPr>
            <a:r>
              <a:rPr lang="ru-RU" sz="2800" dirty="0">
                <a:effectLst/>
                <a:latin typeface="Times New Roman, serif"/>
              </a:rPr>
              <a:t>5) C5 (Цикл):</a:t>
            </a:r>
            <a:endParaRPr lang="ru-RU" sz="3200" dirty="0">
              <a:effectLst/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60E403-E186-4E60-9660-1CEFCDB8DD3A}"/>
              </a:ext>
            </a:extLst>
          </p:cNvPr>
          <p:cNvSpPr txBox="1"/>
          <p:nvPr/>
        </p:nvSpPr>
        <p:spPr>
          <a:xfrm>
            <a:off x="5785421" y="946463"/>
            <a:ext cx="5121534" cy="52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6) Q3 (3-мерный куб):</a:t>
            </a:r>
            <a:endParaRPr lang="ru-RU" sz="2800" dirty="0">
              <a:effectLst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416D7BB-0857-4F7F-AE19-B6F50313B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2957" y="1855381"/>
            <a:ext cx="3891701" cy="372626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0D1C124-2B9A-F820-088B-A8C437800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299" y="2246900"/>
            <a:ext cx="2966085" cy="294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257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D075A763-3BDF-49FB-A8EC-55F275E1607A}"/>
              </a:ext>
            </a:extLst>
          </p:cNvPr>
          <p:cNvSpPr txBox="1">
            <a:spLocks/>
          </p:cNvSpPr>
          <p:nvPr/>
        </p:nvSpPr>
        <p:spPr>
          <a:xfrm>
            <a:off x="3963108" y="193531"/>
            <a:ext cx="2863819" cy="6557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sz="3100" b="1" dirty="0">
                <a:effectLst/>
                <a:latin typeface="Times New Roman" panose="02020603050405020304" pitchFamily="18" charset="0"/>
              </a:rPr>
              <a:t>Задание 4</a:t>
            </a:r>
            <a:endParaRPr lang="ru-RU" sz="3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952821-3B73-402D-8434-C06D3A6F4063}"/>
              </a:ext>
            </a:extLst>
          </p:cNvPr>
          <p:cNvSpPr txBox="1"/>
          <p:nvPr/>
        </p:nvSpPr>
        <p:spPr>
          <a:xfrm>
            <a:off x="345559" y="1186453"/>
            <a:ext cx="6092456" cy="533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7) W5 (Колесо, 5 вершин):</a:t>
            </a:r>
            <a:endParaRPr lang="ru-RU" sz="2800" dirty="0"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3DCA4-20F3-4ACC-94B8-3F900361BC59}"/>
              </a:ext>
            </a:extLst>
          </p:cNvPr>
          <p:cNvSpPr txBox="1"/>
          <p:nvPr/>
        </p:nvSpPr>
        <p:spPr>
          <a:xfrm>
            <a:off x="5753985" y="1096619"/>
            <a:ext cx="6092456" cy="52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8) Граф Петерсена:</a:t>
            </a:r>
            <a:endParaRPr lang="ru-RU" sz="2800" dirty="0">
              <a:effectLst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4B1E5CF-1C43-4BE1-83C0-F5FAE4ACE2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985" y="1967695"/>
            <a:ext cx="4176926" cy="39604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2044034-ED57-250E-A905-44C033B0D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843" y="2442975"/>
            <a:ext cx="3510411" cy="334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165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5AA0498-FE74-4BF9-83E1-DFA093910A4E}"/>
              </a:ext>
            </a:extLst>
          </p:cNvPr>
          <p:cNvSpPr txBox="1">
            <a:spLocks/>
          </p:cNvSpPr>
          <p:nvPr/>
        </p:nvSpPr>
        <p:spPr>
          <a:xfrm>
            <a:off x="4131785" y="94464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Задание 5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4A8F03-6165-447B-BC67-347EE50B9107}"/>
              </a:ext>
            </a:extLst>
          </p:cNvPr>
          <p:cNvSpPr txBox="1"/>
          <p:nvPr/>
        </p:nvSpPr>
        <p:spPr>
          <a:xfrm>
            <a:off x="3544" y="977402"/>
            <a:ext cx="6092456" cy="1042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lang="ru-RU" sz="2800" dirty="0">
                <a:effectLst/>
                <a:latin typeface="Times New Roman, serif"/>
              </a:rPr>
              <a:t>А) Случайный неориентированный граф (</a:t>
            </a:r>
            <a:r>
              <a:rPr lang="ru-RU" sz="2800" dirty="0">
                <a:latin typeface="Times New Roman, serif"/>
              </a:rPr>
              <a:t>5</a:t>
            </a:r>
            <a:r>
              <a:rPr lang="ru-RU" sz="2800" dirty="0">
                <a:effectLst/>
                <a:latin typeface="Times New Roman, serif"/>
              </a:rPr>
              <a:t> вершин, p=0.5):</a:t>
            </a:r>
            <a:endParaRPr lang="ru-RU" sz="2800" dirty="0">
              <a:effectLst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833C6B-1B2D-4B4D-9BAC-1ACB53BB808E}"/>
              </a:ext>
            </a:extLst>
          </p:cNvPr>
          <p:cNvSpPr txBox="1"/>
          <p:nvPr/>
        </p:nvSpPr>
        <p:spPr>
          <a:xfrm>
            <a:off x="6035750" y="1030108"/>
            <a:ext cx="6156250" cy="99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  <a:latin typeface="Times New Roman, serif"/>
              </a:rPr>
              <a:t>Б) Случайный орграф (7 вершин, p=0.6):</a:t>
            </a:r>
            <a:endParaRPr lang="ru-RU" sz="2800" dirty="0">
              <a:effectLst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05EA9EE-84D9-B977-83CC-C59A515E5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35" y="2549592"/>
            <a:ext cx="3448050" cy="322707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2950DA-02F0-4147-D6BC-6B6A7A15F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917" y="2672464"/>
            <a:ext cx="3289300" cy="29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694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75B38FA-A137-4B13-9022-5CD0474114DA}"/>
              </a:ext>
            </a:extLst>
          </p:cNvPr>
          <p:cNvSpPr txBox="1">
            <a:spLocks/>
          </p:cNvSpPr>
          <p:nvPr/>
        </p:nvSpPr>
        <p:spPr>
          <a:xfrm>
            <a:off x="4131785" y="94464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Задание 6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AB05F1-006B-447C-9BAE-C98FE00CD114}"/>
              </a:ext>
            </a:extLst>
          </p:cNvPr>
          <p:cNvSpPr txBox="1"/>
          <p:nvPr/>
        </p:nvSpPr>
        <p:spPr>
          <a:xfrm>
            <a:off x="1686146" y="994012"/>
            <a:ext cx="8819707" cy="146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800" dirty="0">
                <a:effectLst/>
              </a:rPr>
              <a:t>Создаем случайный двудольный граф (доли 5+7, p=0.7). Множество вершин разбито на доли, которые окрашены в разные цвета (зеленый и красный):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AAF1F1-2E6E-65BC-54F7-F29F14B49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012" y="2630398"/>
            <a:ext cx="6362178" cy="356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172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F9D43873-9F55-44EA-9351-455C6888307E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Задание 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B6E8A-BF32-4579-9FC5-416F1B7E89B0}"/>
              </a:ext>
            </a:extLst>
          </p:cNvPr>
          <p:cNvSpPr txBox="1"/>
          <p:nvPr/>
        </p:nvSpPr>
        <p:spPr>
          <a:xfrm>
            <a:off x="1393337" y="521870"/>
            <a:ext cx="9405326" cy="660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50000"/>
              </a:lnSpc>
            </a:pPr>
            <a:r>
              <a:rPr lang="ru-RU" sz="2800" dirty="0">
                <a:effectLst/>
                <a:latin typeface="Times New Roman, serif"/>
              </a:rPr>
              <a:t>Создаем случайный граф F с 20 вершинами и 80 ребрами:</a:t>
            </a:r>
            <a:endParaRPr lang="ru-RU" sz="2800" dirty="0"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8D41ED-9B94-4F58-82EC-9C00098334D5}"/>
              </a:ext>
            </a:extLst>
          </p:cNvPr>
          <p:cNvSpPr txBox="1"/>
          <p:nvPr/>
        </p:nvSpPr>
        <p:spPr>
          <a:xfrm>
            <a:off x="3049772" y="1278981"/>
            <a:ext cx="6092456" cy="66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50000"/>
              </a:lnSpc>
            </a:pPr>
            <a:r>
              <a:rPr lang="ru-RU" sz="2800" dirty="0">
                <a:effectLst/>
                <a:latin typeface="Times New Roman, serif"/>
              </a:rPr>
              <a:t>А) Выясняем свойства графа</a:t>
            </a:r>
            <a:r>
              <a:rPr lang="ru-RU" sz="1800" dirty="0">
                <a:effectLst/>
                <a:latin typeface="Times New Roman, serif"/>
              </a:rPr>
              <a:t>:</a:t>
            </a:r>
            <a:endParaRPr lang="ru-RU" dirty="0">
              <a:effectLst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2C96F3-D45E-47E9-89B2-4451B0602CA2}"/>
              </a:ext>
            </a:extLst>
          </p:cNvPr>
          <p:cNvSpPr txBox="1"/>
          <p:nvPr/>
        </p:nvSpPr>
        <p:spPr>
          <a:xfrm>
            <a:off x="491721" y="2036990"/>
            <a:ext cx="2400335" cy="579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50000"/>
              </a:lnSpc>
            </a:pPr>
            <a:r>
              <a:rPr lang="ru-RU" sz="2400" dirty="0">
                <a:effectLst/>
                <a:latin typeface="Times New Roman, serif"/>
              </a:rPr>
              <a:t>1) Связность:</a:t>
            </a:r>
            <a:endParaRPr lang="ru-RU" sz="2400" dirty="0">
              <a:effectLst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E12A87C-601D-4B4D-B720-02CFBA680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258" y="2794999"/>
            <a:ext cx="4229886" cy="25911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5CB6471-DBD9-460F-9D8A-68E7F5BBEF2A}"/>
              </a:ext>
            </a:extLst>
          </p:cNvPr>
          <p:cNvSpPr txBox="1"/>
          <p:nvPr/>
        </p:nvSpPr>
        <p:spPr>
          <a:xfrm>
            <a:off x="6124253" y="2084836"/>
            <a:ext cx="3017975" cy="462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08000"/>
              </a:lnSpc>
            </a:pPr>
            <a:r>
              <a:rPr lang="ru-RU" sz="2400" dirty="0">
                <a:effectLst/>
                <a:latin typeface="Times New Roman, serif"/>
              </a:rPr>
              <a:t>2) Дерево:</a:t>
            </a:r>
            <a:endParaRPr lang="ru-RU" sz="2400" dirty="0">
              <a:effectLst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1FFCE615-157B-4BF1-8692-56A71880C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010" y="2894787"/>
            <a:ext cx="5891417" cy="184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26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F2913AF9-02F2-499F-8331-8DAC834879B8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Задание 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1637FB-044C-40B7-86ED-C7DAE2611CC1}"/>
              </a:ext>
            </a:extLst>
          </p:cNvPr>
          <p:cNvSpPr txBox="1"/>
          <p:nvPr/>
        </p:nvSpPr>
        <p:spPr>
          <a:xfrm>
            <a:off x="345559" y="1314042"/>
            <a:ext cx="3035594" cy="587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3200" dirty="0">
                <a:effectLst/>
                <a:latin typeface="Times New Roman, serif"/>
              </a:rPr>
              <a:t>3) Двудольный</a:t>
            </a:r>
            <a:r>
              <a:rPr lang="ru-RU" sz="2400" dirty="0">
                <a:effectLst/>
                <a:latin typeface="Times New Roman, serif"/>
              </a:rPr>
              <a:t>:</a:t>
            </a:r>
            <a:endParaRPr lang="ru-RU" sz="2400" dirty="0">
              <a:effectLst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DEF5459-523A-4B82-A302-966335710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48" y="2117383"/>
            <a:ext cx="5830030" cy="16678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895289C-E6EF-4902-ABDD-6349F38BBA9D}"/>
              </a:ext>
            </a:extLst>
          </p:cNvPr>
          <p:cNvSpPr txBox="1"/>
          <p:nvPr/>
        </p:nvSpPr>
        <p:spPr>
          <a:xfrm>
            <a:off x="6873948" y="1721787"/>
            <a:ext cx="6092456" cy="462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400" dirty="0">
                <a:effectLst/>
                <a:latin typeface="Times New Roman, serif"/>
              </a:rPr>
              <a:t>4) Гамильтонов:</a:t>
            </a:r>
            <a:endParaRPr lang="ru-RU" sz="2400" dirty="0">
              <a:effectLst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A2DED03-CFC6-43DE-936C-44D08C53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972" y="2951287"/>
            <a:ext cx="5439534" cy="272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99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9DDA75A-9768-46F3-AE92-F91AB8F05C95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Задание 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FFA812-7B81-415F-833C-5232959CAA68}"/>
              </a:ext>
            </a:extLst>
          </p:cNvPr>
          <p:cNvSpPr txBox="1"/>
          <p:nvPr/>
        </p:nvSpPr>
        <p:spPr>
          <a:xfrm>
            <a:off x="3888823" y="1675550"/>
            <a:ext cx="2759149" cy="587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3200" dirty="0">
                <a:effectLst/>
                <a:latin typeface="Times New Roman, serif"/>
              </a:rPr>
              <a:t>5) Планарный</a:t>
            </a:r>
            <a:r>
              <a:rPr lang="ru-RU" sz="2400" dirty="0">
                <a:effectLst/>
                <a:latin typeface="Times New Roman, serif"/>
              </a:rPr>
              <a:t>:</a:t>
            </a:r>
            <a:endParaRPr lang="ru-RU" sz="2400" dirty="0">
              <a:effectLst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70ABEAA-5978-4486-A43E-7F0452AC8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370" y="3051584"/>
            <a:ext cx="5877350" cy="189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763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2AF6392-71E7-40AF-BE72-53773E1E6B51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>
                <a:effectLst/>
                <a:latin typeface="Times New Roman" panose="02020603050405020304" pitchFamily="18" charset="0"/>
              </a:rPr>
              <a:t>Задание 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AECD9C-7C33-4D87-B7E1-534BC32C3571}"/>
              </a:ext>
            </a:extLst>
          </p:cNvPr>
          <p:cNvSpPr txBox="1"/>
          <p:nvPr/>
        </p:nvSpPr>
        <p:spPr>
          <a:xfrm>
            <a:off x="2812312" y="1207718"/>
            <a:ext cx="7139762" cy="462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08000"/>
              </a:lnSpc>
            </a:pPr>
            <a:r>
              <a:rPr lang="ru-RU" sz="2400" dirty="0">
                <a:effectLst/>
                <a:latin typeface="Times New Roman, serif"/>
              </a:rPr>
              <a:t>Б) Формируем списки вершин, степеней и ребер:</a:t>
            </a:r>
            <a:endParaRPr lang="ru-RU" sz="2400" dirty="0">
              <a:effectLst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E83D0FE-8716-4C2C-8764-FC31F2830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952" y="2341864"/>
            <a:ext cx="5542095" cy="184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09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E7B7813-E098-4A2E-A43E-593D68F25676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>
                <a:effectLst/>
                <a:latin typeface="Times New Roman" panose="02020603050405020304" pitchFamily="18" charset="0"/>
              </a:rPr>
              <a:t>Задание 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AED3B1-C59B-466B-80C2-16057F34BF34}"/>
              </a:ext>
            </a:extLst>
          </p:cNvPr>
          <p:cNvSpPr txBox="1"/>
          <p:nvPr/>
        </p:nvSpPr>
        <p:spPr>
          <a:xfrm>
            <a:off x="3089644" y="886921"/>
            <a:ext cx="6012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00000"/>
              </a:lnSpc>
            </a:pPr>
            <a:r>
              <a:rPr lang="ru-RU" sz="2400" dirty="0">
                <a:effectLst/>
                <a:latin typeface="Times New Roman, serif"/>
              </a:rPr>
              <a:t>В) Найдем характеристики степеней:</a:t>
            </a:r>
            <a:endParaRPr lang="ru-RU" dirty="0"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4A008D-817F-4971-A0B3-FA5BA0ED52FE}"/>
              </a:ext>
            </a:extLst>
          </p:cNvPr>
          <p:cNvSpPr txBox="1"/>
          <p:nvPr/>
        </p:nvSpPr>
        <p:spPr>
          <a:xfrm>
            <a:off x="388088" y="1709356"/>
            <a:ext cx="36017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00000"/>
              </a:lnSpc>
            </a:pPr>
            <a:r>
              <a:rPr lang="ru-RU" sz="2400" dirty="0">
                <a:effectLst/>
                <a:latin typeface="Times New Roman, serif"/>
              </a:rPr>
              <a:t>1) Средняя степень вершин:</a:t>
            </a:r>
            <a:endParaRPr lang="ru-RU" sz="2400" dirty="0">
              <a:effectLst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39FC68E-C299-41A8-8FA5-8321D53239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13" y="2949799"/>
            <a:ext cx="5630061" cy="12668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67F3F95-774E-40D8-B5BF-E82A99EB4FC7}"/>
              </a:ext>
            </a:extLst>
          </p:cNvPr>
          <p:cNvSpPr txBox="1"/>
          <p:nvPr/>
        </p:nvSpPr>
        <p:spPr>
          <a:xfrm>
            <a:off x="6099544" y="2234460"/>
            <a:ext cx="6092456" cy="462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08000"/>
              </a:lnSpc>
            </a:pPr>
            <a:r>
              <a:rPr lang="ru-RU" sz="2400" dirty="0">
                <a:effectLst/>
                <a:latin typeface="Times New Roman, serif"/>
              </a:rPr>
              <a:t>2) Минимальная степень вершин:</a:t>
            </a:r>
            <a:endParaRPr lang="ru-RU" sz="2400" dirty="0">
              <a:effectLst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4A939CD-018F-4C7C-A6BC-85A9A9DACE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972" y="3583219"/>
            <a:ext cx="4290488" cy="145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654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44D550D-D598-46F1-B2C0-FFD67152A47E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>
                <a:effectLst/>
                <a:latin typeface="Times New Roman" panose="02020603050405020304" pitchFamily="18" charset="0"/>
              </a:rPr>
              <a:t>Задание 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E5113C-14DA-41C7-93F0-E023D98A5A89}"/>
              </a:ext>
            </a:extLst>
          </p:cNvPr>
          <p:cNvSpPr txBox="1"/>
          <p:nvPr/>
        </p:nvSpPr>
        <p:spPr>
          <a:xfrm>
            <a:off x="387352" y="1264268"/>
            <a:ext cx="3758609" cy="906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lang="ru-RU" sz="2400" dirty="0">
                <a:effectLst/>
                <a:latin typeface="Times New Roman, serif"/>
              </a:rPr>
              <a:t>3) Максимальная степень вершин:</a:t>
            </a:r>
            <a:endParaRPr lang="ru-RU" sz="2400" dirty="0">
              <a:effectLst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5B8A452-CA4F-4004-8C01-D6632F6E7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52" y="2422651"/>
            <a:ext cx="4146643" cy="16480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B21E0FC-ED95-45EA-87A3-0C86585AC952}"/>
              </a:ext>
            </a:extLst>
          </p:cNvPr>
          <p:cNvSpPr txBox="1"/>
          <p:nvPr/>
        </p:nvSpPr>
        <p:spPr>
          <a:xfrm>
            <a:off x="5712192" y="1755749"/>
            <a:ext cx="60924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ru-RU" sz="2400" dirty="0">
                <a:effectLst/>
                <a:latin typeface="Times New Roman, serif"/>
              </a:rPr>
              <a:t>4) Степень и смежные вершины для вершины 5:</a:t>
            </a:r>
            <a:endParaRPr lang="ru-RU" sz="2400" dirty="0">
              <a:effectLst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C95AE61-22F5-4401-9634-ADEE99B35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000" y="3429000"/>
            <a:ext cx="5430008" cy="164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64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734C265-61ED-436B-80F0-0CB449E7E396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>
                <a:effectLst/>
                <a:latin typeface="Times New Roman" panose="02020603050405020304" pitchFamily="18" charset="0"/>
              </a:rPr>
              <a:t>Задание 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D8E51-F240-48EA-ACAA-920774A3AE98}"/>
              </a:ext>
            </a:extLst>
          </p:cNvPr>
          <p:cNvSpPr txBox="1"/>
          <p:nvPr/>
        </p:nvSpPr>
        <p:spPr>
          <a:xfrm>
            <a:off x="3685217" y="1004689"/>
            <a:ext cx="4459322" cy="462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ru-RU" sz="2400" dirty="0">
                <a:effectLst/>
                <a:latin typeface="Times New Roman, serif"/>
              </a:rPr>
              <a:t>5) Метрики (т.к. граф связный):</a:t>
            </a:r>
            <a:endParaRPr lang="ru-RU" sz="2400" dirty="0">
              <a:effectLst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37D197D-33B9-4CDB-92E3-6F5C40C9D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443" y="1585341"/>
            <a:ext cx="6373114" cy="478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39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57BFC0A-A13A-4747-AB06-60A49F9AD4A8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Задание 8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6C4D10-D4A8-49CC-B67D-6AE1ADF105F4}"/>
              </a:ext>
            </a:extLst>
          </p:cNvPr>
          <p:cNvSpPr txBox="1"/>
          <p:nvPr/>
        </p:nvSpPr>
        <p:spPr>
          <a:xfrm>
            <a:off x="2375548" y="886921"/>
            <a:ext cx="6092456" cy="906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15000"/>
              </a:lnSpc>
            </a:pPr>
            <a:r>
              <a:rPr lang="ru-RU" sz="2400" dirty="0">
                <a:effectLst/>
                <a:latin typeface="Times New Roman, serif"/>
              </a:rPr>
              <a:t>Создаем случайный орграф H c 15 вершинами, p=0.5:</a:t>
            </a:r>
            <a:endParaRPr lang="ru-RU" sz="2400" dirty="0">
              <a:effectLst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01DFA29-2CD3-4A9A-881E-6D78456D1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4" y="2070513"/>
            <a:ext cx="4553217" cy="90698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59CABF0-17F0-4E5C-A116-1A5869F47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26" y="2524002"/>
            <a:ext cx="4369561" cy="3974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81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4D5C5AF-5572-479C-BFE5-E8EDB7D9DC74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Задание 8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2A3CD-A10B-41A3-9D68-09C7AC7F3DC4}"/>
              </a:ext>
            </a:extLst>
          </p:cNvPr>
          <p:cNvSpPr txBox="1"/>
          <p:nvPr/>
        </p:nvSpPr>
        <p:spPr>
          <a:xfrm>
            <a:off x="143923" y="1090976"/>
            <a:ext cx="5277853" cy="906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15000"/>
              </a:lnSpc>
            </a:pPr>
            <a:r>
              <a:rPr lang="ru-RU" sz="2400" dirty="0">
                <a:effectLst/>
                <a:latin typeface="Times New Roman, serif"/>
              </a:rPr>
              <a:t>А) Выясняем, является ли граф H сильно связным:</a:t>
            </a:r>
            <a:endParaRPr lang="ru-RU" sz="2400" dirty="0">
              <a:effectLst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707C7CC-833D-4A8B-978F-28C114988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23" y="2410558"/>
            <a:ext cx="5787112" cy="26580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92D425-E663-4BC8-96AC-8291C8D51DFC}"/>
              </a:ext>
            </a:extLst>
          </p:cNvPr>
          <p:cNvSpPr txBox="1"/>
          <p:nvPr/>
        </p:nvSpPr>
        <p:spPr>
          <a:xfrm>
            <a:off x="6444383" y="1090976"/>
            <a:ext cx="5277853" cy="906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15000"/>
              </a:lnSpc>
            </a:pPr>
            <a:r>
              <a:rPr lang="ru-RU" sz="2400" dirty="0">
                <a:effectLst/>
                <a:latin typeface="Times New Roman, serif"/>
              </a:rPr>
              <a:t>Б) Находим степени исхода и захода вершины с номером 5:</a:t>
            </a:r>
            <a:endParaRPr lang="ru-RU" sz="2400" dirty="0">
              <a:effectLst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6E4F641-A642-46B0-AE69-CE7461045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383" y="2410558"/>
            <a:ext cx="5210902" cy="294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47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0EF0A2D-A7FC-4ED7-9AD0-6487ED3F74C6}"/>
              </a:ext>
            </a:extLst>
          </p:cNvPr>
          <p:cNvSpPr txBox="1">
            <a:spLocks/>
          </p:cNvSpPr>
          <p:nvPr/>
        </p:nvSpPr>
        <p:spPr>
          <a:xfrm>
            <a:off x="4195580" y="156819"/>
            <a:ext cx="2452392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ru-RU" dirty="0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B5AF5B2C-C5D1-4C27-BD5D-DCA4B73C366E}"/>
              </a:ext>
            </a:extLst>
          </p:cNvPr>
          <p:cNvSpPr txBox="1">
            <a:spLocks/>
          </p:cNvSpPr>
          <p:nvPr/>
        </p:nvSpPr>
        <p:spPr>
          <a:xfrm>
            <a:off x="4347980" y="309219"/>
            <a:ext cx="2726588" cy="7301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kern="1200" cap="all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6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ru-RU" b="1" dirty="0">
                <a:effectLst/>
                <a:latin typeface="Times New Roman" panose="02020603050405020304" pitchFamily="18" charset="0"/>
              </a:rPr>
              <a:t>Заключение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2657A-35BA-4254-8036-D6E88E9A58D2}"/>
              </a:ext>
            </a:extLst>
          </p:cNvPr>
          <p:cNvSpPr txBox="1"/>
          <p:nvPr/>
        </p:nvSpPr>
        <p:spPr>
          <a:xfrm>
            <a:off x="913943" y="1191720"/>
            <a:ext cx="10219278" cy="5565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>
              <a:lnSpc>
                <a:spcPct val="150000"/>
              </a:lnSpc>
            </a:pPr>
            <a:r>
              <a:rPr lang="ru-RU" sz="2400" dirty="0">
                <a:effectLst/>
                <a:latin typeface="Times New Roman, serif"/>
              </a:rPr>
              <a:t>В ходе выполнения лабораторной работы были успешно решены все задания по варианту №27. Были выполнены операции по созданию, визуализации и анализу как ориентированных (орграфов), так и неориентированных графов (включая графы специального вида). Были построены матрицы смежности для графов, найдено дополнение графа, а также выполнено исследование ключевых свойств случайных графов. В частности, были определены связность (обычная и сильная), гамильтонов цикл, планарность, степени вершин (исхода/захода) и метрические характеристики (диаметр, радиус, центр графа). Все поставленные задачи были полностью выполнены, и цель работы достигнута.</a:t>
            </a:r>
            <a:endParaRPr lang="ru-RU" sz="2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2898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1B2625C-086D-476D-AB6E-7125FFBE33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z="4400" dirty="0"/>
              <a:t>Лабораторная работа</a:t>
            </a:r>
            <a:r>
              <a:rPr lang="en-US" sz="4400" dirty="0"/>
              <a:t> </a:t>
            </a:r>
            <a:r>
              <a:rPr lang="ru-RU" sz="4400" dirty="0"/>
              <a:t>№2 </a:t>
            </a:r>
            <a:br>
              <a:rPr lang="en-US" sz="4400" dirty="0"/>
            </a:br>
            <a:r>
              <a:rPr lang="ru-RU" sz="4400" dirty="0"/>
              <a:t>"Задания по теории графов"</a:t>
            </a:r>
          </a:p>
        </p:txBody>
      </p:sp>
      <p:sp>
        <p:nvSpPr>
          <p:cNvPr id="5" name="Подзаголовок 4">
            <a:extLst>
              <a:ext uri="{FF2B5EF4-FFF2-40B4-BE49-F238E27FC236}">
                <a16:creationId xmlns:a16="http://schemas.microsoft.com/office/drawing/2014/main" id="{838A336B-A423-4D30-9FE7-C215850ED0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Вариант №27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A16CD3-6701-4A0F-9401-A8A0E2FE650E}"/>
              </a:ext>
            </a:extLst>
          </p:cNvPr>
          <p:cNvSpPr txBox="1"/>
          <p:nvPr/>
        </p:nvSpPr>
        <p:spPr>
          <a:xfrm>
            <a:off x="8229600" y="5191035"/>
            <a:ext cx="396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Руководитель: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Агалаков С.А.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Выполнил:</a:t>
            </a: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Кабанов А. </a:t>
            </a:r>
            <a: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А.</a:t>
            </a:r>
            <a:endParaRPr kumimoji="0" lang="en-GB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ММБ-304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511366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600</TotalTime>
  <Words>584</Words>
  <Application>Microsoft Office PowerPoint</Application>
  <PresentationFormat>Широкоэкранный</PresentationFormat>
  <Paragraphs>74</Paragraphs>
  <Slides>25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Times New Roman</vt:lpstr>
      <vt:lpstr>Times New Roman, serif</vt:lpstr>
      <vt:lpstr>Тема Office</vt:lpstr>
      <vt:lpstr>Лабораторная работа №2  "Задания по теории графов"</vt:lpstr>
      <vt:lpstr>Цель работы</vt:lpstr>
      <vt:lpstr>Задание 1 Необходимо создать неориентированный граф G </vt:lpstr>
      <vt:lpstr>Задание 1</vt:lpstr>
      <vt:lpstr>Задание 1</vt:lpstr>
      <vt:lpstr>Задание 2 </vt:lpstr>
      <vt:lpstr>Задание 3 </vt:lpstr>
      <vt:lpstr>Задание 3</vt:lpstr>
      <vt:lpstr>Задание 4 Создаем и изображаем графы специального вида </vt:lpstr>
      <vt:lpstr>Задание 4</vt:lpstr>
      <vt:lpstr>Задание 4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Лабораторная работа №2  "Задания по теории графов"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данил кошкаров</dc:creator>
  <cp:lastModifiedBy>Кабанов Артемий</cp:lastModifiedBy>
  <cp:revision>16</cp:revision>
  <dcterms:created xsi:type="dcterms:W3CDTF">2025-11-13T03:39:33Z</dcterms:created>
  <dcterms:modified xsi:type="dcterms:W3CDTF">2026-03-02T10:38:48Z</dcterms:modified>
</cp:coreProperties>
</file>